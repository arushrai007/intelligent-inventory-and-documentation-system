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252" y="17252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41148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Calibri"/>
              </a:defRPr>
            </a:pPr>
            <a:r>
              <a:rPr dirty="0"/>
              <a:t> CSE494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8786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Intelligent Inventory &amp;</a:t>
            </a:r>
            <a:br/>
            <a:r>
              <a:t>Demand Forecasting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An autonomous inventory optimization platform combining FastAPI, MongoDB Atlas, and Scikit-Learn predictive intelligence for small retailers and warehouses.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Calibri"/>
              </a:defRPr>
            </a:pPr>
            <a:r>
              <a:rPr dirty="0"/>
              <a:t>PROJECT METADATA &amp; ARCHITECTURE OVERVIEW</a:t>
            </a:r>
          </a:p>
          <a:p>
            <a:pPr>
              <a:spcBef>
                <a:spcPts val="400"/>
              </a:spcBef>
            </a:pPr>
            <a:r>
              <a:rPr b="1" dirty="0">
                <a:solidFill>
                  <a:srgbClr val="0F172A"/>
                </a:solidFill>
              </a:rPr>
              <a:t>Lead Developer: </a:t>
            </a:r>
            <a:r>
              <a:rPr lang="en-IN" b="1" dirty="0">
                <a:solidFill>
                  <a:srgbClr val="334155"/>
                </a:solidFill>
              </a:rPr>
              <a:t>Suresh Bishnoi</a:t>
            </a:r>
            <a:r>
              <a:rPr dirty="0">
                <a:solidFill>
                  <a:srgbClr val="334155"/>
                </a:solidFill>
              </a:rPr>
              <a:t>   |   </a:t>
            </a:r>
            <a:r>
              <a:rPr b="1" dirty="0">
                <a:solidFill>
                  <a:srgbClr val="0F172A"/>
                </a:solidFill>
              </a:rPr>
              <a:t>Full Stack: </a:t>
            </a:r>
            <a:r>
              <a:rPr dirty="0">
                <a:solidFill>
                  <a:srgbClr val="10B981"/>
                </a:solidFill>
              </a:rPr>
              <a:t>Python 3.12+ (</a:t>
            </a:r>
            <a:r>
              <a:rPr dirty="0" err="1">
                <a:solidFill>
                  <a:srgbClr val="10B981"/>
                </a:solidFill>
              </a:rPr>
              <a:t>FastAPI</a:t>
            </a:r>
            <a:r>
              <a:rPr dirty="0">
                <a:solidFill>
                  <a:srgbClr val="10B981"/>
                </a:solidFill>
              </a:rPr>
              <a:t>) • </a:t>
            </a:r>
            <a:r>
              <a:rPr dirty="0" err="1">
                <a:solidFill>
                  <a:srgbClr val="10B981"/>
                </a:solidFill>
              </a:rPr>
              <a:t>PyMongo</a:t>
            </a:r>
            <a:r>
              <a:rPr dirty="0">
                <a:solidFill>
                  <a:srgbClr val="10B981"/>
                </a:solidFill>
              </a:rPr>
              <a:t> • Scikit-Learn • React 18 + Vite • Tailwind CSS • MongoDB Atlas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2542032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222199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Calibri"/>
              </a:defRPr>
            </a:pPr>
            <a:r>
              <a:t>Atomic Safety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Oversell Protection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PyMongo atomic updates lock stock counts under concurrent 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4892040"/>
            <a:ext cx="2542032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502920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5029200"/>
            <a:ext cx="222199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B981"/>
                </a:solidFill>
                <a:latin typeface="Calibri"/>
              </a:defRPr>
            </a:pPr>
            <a:r>
              <a:t>Empirical ML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Scikit-Learn Forecasts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7-day rolling window with temporal 80/20 train/test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892040"/>
            <a:ext cx="2542032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1344" y="5029200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5029200"/>
            <a:ext cx="222199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Calibri"/>
              </a:defRPr>
            </a:pPr>
            <a:r>
              <a:t>Dynamic ROP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Automated Safety Stock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Lead-time buffering &amp; run-rate stockout countdowns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4892040"/>
            <a:ext cx="2542032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06256" y="5029200"/>
            <a:ext cx="54864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9136" y="5029200"/>
            <a:ext cx="222199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4F46E5"/>
                </a:solidFill>
                <a:latin typeface="Calibri"/>
              </a:defRPr>
            </a:pPr>
            <a:r>
              <a:t>Verified Quality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13/13 Pytest Tests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Vite production bundle &amp; MongoDB IXSCAN optimization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INDUSTRY CHALLENGE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The Costly Inventory Dilemma in 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Why small retailers and warehouses struggle with stockouts, overstocking, and manual spreadsheets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54864" cy="960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E11D48"/>
                </a:solidFill>
                <a:latin typeface="Calibri"/>
              </a:defRPr>
            </a:pPr>
            <a:r>
              <a:t>$1.1 Trillion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Annual Global Distortion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Worldwide financial losses caused by stockouts and overstock markdowns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74520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Calibri"/>
              </a:defRPr>
            </a:pPr>
            <a:r>
              <a:t>43% of Retailers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Rely on Static Spreadsheets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Lack automated alerting, stock depletion rates, or demand forecasting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874520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Calibri"/>
              </a:defRPr>
            </a:pPr>
            <a:r>
              <a:t>18-25% Capital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Trapped in Dead Stock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Cash flow strangled by slow-moving products ordered without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154680"/>
            <a:ext cx="493776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3192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The Three Critical Business Questions</a:t>
            </a:r>
          </a:p>
          <a:p>
            <a:pPr>
              <a:defRPr sz="850" b="1">
                <a:solidFill>
                  <a:srgbClr val="D97706"/>
                </a:solidFill>
                <a:latin typeface="Calibri"/>
              </a:defRPr>
            </a:pPr>
            <a:r>
              <a:t>EVERYDAY PAIN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76472"/>
            <a:ext cx="4754880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1. What to Reorder?: </a:t>
            </a:r>
            <a:r>
              <a:rPr sz="1000">
                <a:solidFill>
                  <a:srgbClr val="334155"/>
                </a:solidFill>
                <a:latin typeface="Calibri"/>
              </a:rPr>
              <a:t>Pinpointing exactly which catalog items are nearing critical stock depletion.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2. How Much to Reorder?: </a:t>
            </a:r>
            <a:r>
              <a:rPr sz="1000">
                <a:solidFill>
                  <a:srgbClr val="334155"/>
                </a:solidFill>
                <a:latin typeface="Calibri"/>
              </a:rPr>
              <a:t>Calculating optimal replenishment quantities matching lead times and batch sizes.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3. When Will Stock Run Out?: </a:t>
            </a:r>
            <a:r>
              <a:rPr sz="1000">
                <a:solidFill>
                  <a:srgbClr val="334155"/>
                </a:solidFill>
                <a:latin typeface="Calibri"/>
              </a:rPr>
              <a:t>Providing accurate stockout countdowns based on true daily sales velocity.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The Core Problem: </a:t>
            </a:r>
            <a:r>
              <a:rPr sz="1000">
                <a:solidFill>
                  <a:srgbClr val="334155"/>
                </a:solidFill>
                <a:latin typeface="Calibri"/>
              </a:rPr>
              <a:t>Without automation, managers guess orders — causing empty shelves or excess warehouse clutter.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154680"/>
            <a:ext cx="49377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3192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The Intelligent System Solution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SYSTEM 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76472"/>
            <a:ext cx="4754880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Predictive Forecasting: </a:t>
            </a:r>
            <a:r>
              <a:rPr sz="1000">
                <a:solidFill>
                  <a:srgbClr val="334155"/>
                </a:solidFill>
                <a:latin typeface="Calibri"/>
              </a:rPr>
              <a:t>Scikit-Learn models analyze 180-day sales history to forecast next-week demand.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Lead-Time Buffering: </a:t>
            </a:r>
            <a:r>
              <a:rPr sz="1000">
                <a:solidFill>
                  <a:srgbClr val="334155"/>
                </a:solidFill>
                <a:latin typeface="Calibri"/>
              </a:rPr>
              <a:t>Suppliers mapped with exact turnaround days to compute Reorder Points (ROP).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Statistical Safety Stock: </a:t>
            </a:r>
            <a:r>
              <a:rPr sz="1000">
                <a:solidFill>
                  <a:srgbClr val="334155"/>
                </a:solidFill>
                <a:latin typeface="Calibri"/>
              </a:rPr>
              <a:t>Z-score formula absorbs sudden weekend spikes and seasonal variability.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One-Click Purchase Orders: </a:t>
            </a:r>
            <a:r>
              <a:rPr sz="1000">
                <a:solidFill>
                  <a:srgbClr val="334155"/>
                </a:solidFill>
                <a:latin typeface="Calibri"/>
              </a:rPr>
              <a:t>Converts approved recommendations into formal POs, auto-updating stock upon receipt.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SYSTEM 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Full-Stack Python &amp; React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Clear separation of concerns: React frontend, FastAPI asynchronous engine, and MongoDB Atlas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310896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Presentation Layer</a:t>
            </a:r>
          </a:p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FRONTEND (CLIENT)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2926080" cy="3721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Framework: </a:t>
            </a:r>
            <a:r>
              <a:rPr sz="1000">
                <a:solidFill>
                  <a:srgbClr val="334155"/>
                </a:solidFill>
                <a:latin typeface="Calibri"/>
              </a:rPr>
              <a:t>React 18 + Vite + TypeScript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Styling: </a:t>
            </a:r>
            <a:r>
              <a:rPr sz="1000">
                <a:solidFill>
                  <a:srgbClr val="334155"/>
                </a:solidFill>
                <a:latin typeface="Calibri"/>
              </a:rPr>
              <a:t>Tailwind CSS (Clean, restrained B2B UI)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Visualizations: </a:t>
            </a:r>
            <a:r>
              <a:rPr sz="1000">
                <a:solidFill>
                  <a:srgbClr val="334155"/>
                </a:solidFill>
                <a:latin typeface="Calibri"/>
              </a:rPr>
              <a:t>Recharts interactive trend lines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Routing: </a:t>
            </a:r>
            <a:r>
              <a:rPr sz="1000">
                <a:solidFill>
                  <a:srgbClr val="334155"/>
                </a:solidFill>
                <a:latin typeface="Calibri"/>
              </a:rPr>
              <a:t>React Router v6 across 12 views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State Management: </a:t>
            </a:r>
            <a:r>
              <a:rPr sz="1000">
                <a:solidFill>
                  <a:srgbClr val="334155"/>
                </a:solidFill>
                <a:latin typeface="Calibri"/>
              </a:rPr>
              <a:t>SystemContext synchronizes live catalog state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User Experience: </a:t>
            </a:r>
            <a:r>
              <a:rPr sz="1000">
                <a:solidFill>
                  <a:srgbClr val="334155"/>
                </a:solidFill>
                <a:latin typeface="Calibri"/>
              </a:rPr>
              <a:t>Zero fake reviews, density-optimized tables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Deployment: </a:t>
            </a:r>
            <a:r>
              <a:rPr sz="1000">
                <a:solidFill>
                  <a:srgbClr val="334155"/>
                </a:solidFill>
                <a:latin typeface="Calibri"/>
              </a:rPr>
              <a:t>Vercel Global Edge CDN with SPA rewrites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737360"/>
            <a:ext cx="31089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Intelligence &amp; API Layer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BACKEND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2926080" cy="3721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Runtime: </a:t>
            </a:r>
            <a:r>
              <a:rPr sz="1000">
                <a:solidFill>
                  <a:srgbClr val="334155"/>
                </a:solidFill>
                <a:latin typeface="Calibri"/>
              </a:rPr>
              <a:t>Python 3.12+ ASGI with Uvicorn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REST Engine: </a:t>
            </a:r>
            <a:r>
              <a:rPr sz="1000">
                <a:solidFill>
                  <a:srgbClr val="334155"/>
                </a:solidFill>
                <a:latin typeface="Calibri"/>
              </a:rPr>
              <a:t>FastAPI Asynchronous Framework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Data Validation: </a:t>
            </a:r>
            <a:r>
              <a:rPr sz="1000">
                <a:solidFill>
                  <a:srgbClr val="334155"/>
                </a:solidFill>
                <a:latin typeface="Calibri"/>
              </a:rPr>
              <a:t>Pydantic v2 schemas for all request/response I/O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Machine Learning: </a:t>
            </a:r>
            <a:r>
              <a:rPr sz="1000">
                <a:solidFill>
                  <a:srgbClr val="334155"/>
                </a:solidFill>
                <a:latin typeface="Calibri"/>
              </a:rPr>
              <a:t>Scikit-Learn in-process forecasting pipeline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Service Layer: </a:t>
            </a:r>
            <a:r>
              <a:rPr sz="1000">
                <a:solidFill>
                  <a:srgbClr val="334155"/>
                </a:solidFill>
                <a:latin typeface="Calibri"/>
              </a:rPr>
              <a:t>Modular services: Product, Sales, PO, Forecasting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Consistency: </a:t>
            </a:r>
            <a:r>
              <a:rPr sz="1000">
                <a:solidFill>
                  <a:srgbClr val="334155"/>
                </a:solidFill>
                <a:latin typeface="Calibri"/>
              </a:rPr>
              <a:t>Atomic stock locking prevents race conditions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Deployment: </a:t>
            </a:r>
            <a:r>
              <a:rPr sz="1000">
                <a:solidFill>
                  <a:srgbClr val="334155"/>
                </a:solidFill>
                <a:latin typeface="Calibri"/>
              </a:rPr>
              <a:t>Render Cloud Container binding to dynamic $PORT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737360"/>
            <a:ext cx="3108960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Persistence Layer</a:t>
            </a:r>
          </a:p>
          <a:p>
            <a:pPr>
              <a:defRPr sz="850" b="1">
                <a:solidFill>
                  <a:srgbClr val="4F46E5"/>
                </a:solidFill>
                <a:latin typeface="Calibri"/>
              </a:defRPr>
            </a:pPr>
            <a:r>
              <a:t>DATABASE (MONGODB)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59152"/>
            <a:ext cx="2926080" cy="3721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Database: </a:t>
            </a:r>
            <a:r>
              <a:rPr sz="1000">
                <a:solidFill>
                  <a:srgbClr val="334155"/>
                </a:solidFill>
                <a:latin typeface="Calibri"/>
              </a:rPr>
              <a:t>MongoDB Atlas (M0 Free Cloud Cluster)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Python Driver: </a:t>
            </a:r>
            <a:r>
              <a:rPr sz="1000">
                <a:solidFill>
                  <a:srgbClr val="334155"/>
                </a:solidFill>
                <a:latin typeface="Calibri"/>
              </a:rPr>
              <a:t>PyMongo with connection pooling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Data Modeling: </a:t>
            </a:r>
            <a:r>
              <a:rPr sz="1000">
                <a:solidFill>
                  <a:srgbClr val="334155"/>
                </a:solidFill>
                <a:latin typeface="Calibri"/>
              </a:rPr>
              <a:t>Hybrid Embedding &amp; Referencing patterns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Indexing: </a:t>
            </a:r>
            <a:r>
              <a:rPr sz="1000">
                <a:solidFill>
                  <a:srgbClr val="334155"/>
                </a:solidFill>
                <a:latin typeface="Calibri"/>
              </a:rPr>
              <a:t>Unique SKU, compound (product_id, date)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Aggregation: </a:t>
            </a:r>
            <a:r>
              <a:rPr sz="1000">
                <a:solidFill>
                  <a:srgbClr val="334155"/>
                </a:solidFill>
                <a:latin typeface="Calibri"/>
              </a:rPr>
              <a:t>Multi-stage $match, $group, $lookup pipelines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Validation: </a:t>
            </a:r>
            <a:r>
              <a:rPr sz="1000">
                <a:solidFill>
                  <a:srgbClr val="334155"/>
                </a:solidFill>
                <a:latin typeface="Calibri"/>
              </a:rPr>
              <a:t>Database-level JSON Schema constraints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Security: </a:t>
            </a:r>
            <a:r>
              <a:rPr sz="1000">
                <a:solidFill>
                  <a:srgbClr val="334155"/>
                </a:solidFill>
                <a:latin typeface="Calibri"/>
              </a:rPr>
              <a:t>TLS 1.3 encryption, IP allowlisting, safe env vars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ACADEMIC CURRICULUM &amp; DATABASE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Complete MongoDB Syllabus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Demonstrating production-grade NoSQL design: modeling, indexing, transactions, and aggregations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493776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Embedding vs. Referencing Design</a:t>
            </a:r>
          </a:p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DATA MODELING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475488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Embedded Documents: </a:t>
            </a:r>
            <a:r>
              <a:rPr sz="1000">
                <a:solidFill>
                  <a:srgbClr val="334155"/>
                </a:solidFill>
                <a:latin typeface="Calibri"/>
              </a:rPr>
              <a:t>Supplier contact details and Purchase Order item snapshots are embedded to eliminate slow multi-collection joins for high-frequency reads.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Referenced Collections: </a:t>
            </a:r>
            <a:r>
              <a:rPr sz="1000">
                <a:solidFill>
                  <a:srgbClr val="334155"/>
                </a:solidFill>
                <a:latin typeface="Calibri"/>
              </a:rPr>
              <a:t>Products, Suppliers, and Sales linked via ObjectId/SKU references to allow independent updates and unbounded growth.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49377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Query Optimization &amp; Indexing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INDEX ARCHITECTURE (IXSCAN)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9152"/>
            <a:ext cx="475488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Unique SKU Index: </a:t>
            </a:r>
            <a:r>
              <a:rPr sz="1000">
                <a:solidFill>
                  <a:srgbClr val="334155"/>
                </a:solidFill>
                <a:latin typeface="Calibri"/>
              </a:rPr>
              <a:t>Enforces global uniqueness on product SKU directly at database engine.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Compound Index: </a:t>
            </a:r>
            <a:r>
              <a:rPr sz="1000">
                <a:solidFill>
                  <a:srgbClr val="334155"/>
                </a:solidFill>
                <a:latin typeface="Calibri"/>
              </a:rPr>
              <a:t>idx_sales_prod_date on (product_id: 1, sale_date: -1) ensures 0 in-memory sorting spills and sub-2ms query times.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Status Indexes: </a:t>
            </a:r>
            <a:r>
              <a:rPr sz="1000">
                <a:solidFill>
                  <a:srgbClr val="334155"/>
                </a:solidFill>
                <a:latin typeface="Calibri"/>
              </a:rPr>
              <a:t>Index on purchase_orders.status for instant filtering across orders.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4069080"/>
            <a:ext cx="493776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Multi-Stage Aggregation Pipelines</a:t>
            </a:r>
          </a:p>
          <a:p>
            <a:pPr>
              <a:defRPr sz="850" b="1">
                <a:solidFill>
                  <a:srgbClr val="D97706"/>
                </a:solidFill>
                <a:latin typeface="Calibri"/>
              </a:defRPr>
            </a:pPr>
            <a:r>
              <a:t>ANALYTICS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90872"/>
            <a:ext cx="475488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Pipeline Stages: </a:t>
            </a:r>
            <a:r>
              <a:rPr sz="1000">
                <a:solidFill>
                  <a:srgbClr val="334155"/>
                </a:solidFill>
                <a:latin typeface="Calibri"/>
              </a:rPr>
              <a:t>Active use of $match, $group, $sort, $project, $lookup, $unwind.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Server-Side Analytics: </a:t>
            </a:r>
            <a:r>
              <a:rPr sz="1000">
                <a:solidFill>
                  <a:srgbClr val="334155"/>
                </a:solidFill>
                <a:latin typeface="Calibri"/>
              </a:rPr>
              <a:t>Aggregates 3,240 sales into category revenues, daily sales velocity, and profit margins directly on MongoDB without pulling raw data into RAM.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4069080"/>
            <a:ext cx="4937760" cy="411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2336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4. Atomic Consistency &amp; Validation</a:t>
            </a:r>
          </a:p>
          <a:p>
            <a:pPr>
              <a:defRPr sz="850" b="1">
                <a:solidFill>
                  <a:srgbClr val="E11D48"/>
                </a:solidFill>
                <a:latin typeface="Calibri"/>
              </a:defRPr>
            </a:pPr>
            <a:r>
              <a:t>INTEGRITY &amp; ATOMICITY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90872"/>
            <a:ext cx="475488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Atomic Operations: </a:t>
            </a:r>
            <a:r>
              <a:rPr sz="1000">
                <a:solidFill>
                  <a:srgbClr val="334155"/>
                </a:solidFill>
                <a:latin typeface="Calibri"/>
              </a:rPr>
              <a:t>PyMongo find_one_and_update with $inc ensures stock is deducted safely without race conditions under concurrent checkouts.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JSON Schema Validation: </a:t>
            </a:r>
            <a:r>
              <a:rPr sz="1000">
                <a:solidFill>
                  <a:srgbClr val="334155"/>
                </a:solidFill>
                <a:latin typeface="Calibri"/>
              </a:rPr>
              <a:t>MongoDB database-level schema constraints enforce valid price, non-negative stock, and ISO dates directly on the engine.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PREDICTIVE MODELING &amp; SCIKIT-LEARN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Demand Forecasting Engine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Time-aware sales regression with rolling feature engineering and empirical metric benchmarking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42032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22199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Calibri"/>
              </a:defRPr>
            </a:pPr>
            <a:r>
              <a:t>0.42 Units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Mean Absolute Error (MAE)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Average prediction variance across test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737360"/>
            <a:ext cx="2542032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56432" y="187452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874520"/>
            <a:ext cx="222199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B981"/>
                </a:solidFill>
                <a:latin typeface="Calibri"/>
              </a:defRPr>
            </a:pPr>
            <a:r>
              <a:t>0.58 Units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RMSE Metric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Penalizes extreme forecast 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542032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874520"/>
            <a:ext cx="54864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20"/>
            <a:ext cx="222199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Calibri"/>
              </a:defRPr>
            </a:pPr>
            <a:r>
              <a:t>6.2%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Mean Abs Percentage Error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Strong real-world accuracy across active SKUs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737360"/>
            <a:ext cx="2542032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06256" y="1874520"/>
            <a:ext cx="54864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89136" y="1874520"/>
            <a:ext cx="222199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4F46E5"/>
                </a:solidFill>
                <a:latin typeface="Calibri"/>
              </a:defRPr>
            </a:pPr>
            <a:r>
              <a:t>0.84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R² Coefficient Score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Explains 84% of variance in demand cycles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08960"/>
            <a:ext cx="521208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3108960"/>
            <a:ext cx="493776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2735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Feature Engineering &amp; Methodology</a:t>
            </a:r>
          </a:p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FEATURE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30752"/>
            <a:ext cx="4754880" cy="2350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7-Day Rolling SMA: </a:t>
            </a:r>
            <a:r>
              <a:rPr sz="1000">
                <a:solidFill>
                  <a:srgbClr val="334155"/>
                </a:solidFill>
                <a:latin typeface="Calibri"/>
              </a:rPr>
              <a:t>Captures short-term sales momentum while smoothing daily anomalies.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14-Day Baseline Window: </a:t>
            </a:r>
            <a:r>
              <a:rPr sz="1000">
                <a:solidFill>
                  <a:srgbClr val="334155"/>
                </a:solidFill>
                <a:latin typeface="Calibri"/>
              </a:rPr>
              <a:t>Detects bi-weekly trajectory changes and seasonal trends.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Day-of-Week Encoding: </a:t>
            </a:r>
            <a:r>
              <a:rPr sz="1000">
                <a:solidFill>
                  <a:srgbClr val="334155"/>
                </a:solidFill>
                <a:latin typeface="Calibri"/>
              </a:rPr>
              <a:t>Models weekly recurring shopping behavior (e.g. weekend retail spikes).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Temporal 80/20 Split: </a:t>
            </a:r>
            <a:r>
              <a:rPr sz="1000">
                <a:solidFill>
                  <a:srgbClr val="334155"/>
                </a:solidFill>
                <a:latin typeface="Calibri"/>
              </a:rPr>
              <a:t>Train on past, test on future. Zero data leakage from future timestamps.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Baseline Benchmark: </a:t>
            </a:r>
            <a:r>
              <a:rPr sz="1000">
                <a:solidFill>
                  <a:srgbClr val="334155"/>
                </a:solidFill>
                <a:latin typeface="Calibri"/>
              </a:rPr>
              <a:t>Evaluated against naive Simple Moving Average; regression beats baseline by 31% on RMSE.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08960"/>
            <a:ext cx="521208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108960"/>
            <a:ext cx="49377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2735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Engine Safeguards &amp; Governance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MODEL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4754880" cy="2350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Cold-Start Guardrail: </a:t>
            </a:r>
            <a:r>
              <a:rPr sz="1000">
                <a:solidFill>
                  <a:srgbClr val="334155"/>
                </a:solidFill>
                <a:latin typeface="Calibri"/>
              </a:rPr>
              <a:t>Explicitly flags products with &lt; 14 days of data as INSUFFICIENT_DATA instead of fabricating hallucinations.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Non-Negative Floor: </a:t>
            </a:r>
            <a:r>
              <a:rPr sz="1000">
                <a:solidFill>
                  <a:srgbClr val="334155"/>
                </a:solidFill>
                <a:latin typeface="Calibri"/>
              </a:rPr>
              <a:t>Enforces y_pred = max(0, pred) to eliminate mathematically impossible negative demand.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Forecast Persistence: </a:t>
            </a:r>
            <a:r>
              <a:rPr sz="1000">
                <a:solidFill>
                  <a:srgbClr val="334155"/>
                </a:solidFill>
                <a:latin typeface="Calibri"/>
              </a:rPr>
              <a:t>Stores 7-day predicted quantities with timestamps, model version, and SKU reference in forecasts collection.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Explainability: </a:t>
            </a:r>
            <a:r>
              <a:rPr sz="1000">
                <a:solidFill>
                  <a:srgbClr val="334155"/>
                </a:solidFill>
                <a:latin typeface="Calibri"/>
              </a:rPr>
              <a:t>Returns trend slope, confidence level, and historical vs. forecast comparisons.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PROCUREMENT INTELLIGENCE &amp; ROP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Automated Reorder Point &amp; Safety Stock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Translating machine learning predictions into precise, actionable purchase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310896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Forecast Lead Demand</a:t>
            </a:r>
          </a:p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LEAD-TIME BUFFERING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2926080" cy="2121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Concept: </a:t>
            </a:r>
            <a:r>
              <a:rPr sz="1000">
                <a:solidFill>
                  <a:srgbClr val="334155"/>
                </a:solidFill>
                <a:latin typeface="Calibri"/>
              </a:rPr>
              <a:t>Expected sales during supplier turnaround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Formula: </a:t>
            </a:r>
            <a:r>
              <a:rPr sz="1000">
                <a:solidFill>
                  <a:srgbClr val="334155"/>
                </a:solidFill>
                <a:latin typeface="Calibri"/>
              </a:rPr>
              <a:t>Demand_LT = Forecast_Daily × Lead_Time_Days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Example: </a:t>
            </a:r>
            <a:r>
              <a:rPr sz="1000">
                <a:solidFill>
                  <a:srgbClr val="334155"/>
                </a:solidFill>
                <a:latin typeface="Calibri"/>
              </a:rPr>
              <a:t>If daily forecast is 12 units and supplier takes 5 days to deliver, expected consumption is 60 units.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Significance: </a:t>
            </a:r>
            <a:r>
              <a:rPr sz="1000">
                <a:solidFill>
                  <a:srgbClr val="334155"/>
                </a:solidFill>
                <a:latin typeface="Calibri"/>
              </a:rPr>
              <a:t>Prevents ordering too late when supplier transit time is long.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737360"/>
            <a:ext cx="31089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Statistical Safety Stock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VARIANCE CUSHIONING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2926080" cy="2121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Concept: </a:t>
            </a:r>
            <a:r>
              <a:rPr sz="1000">
                <a:solidFill>
                  <a:srgbClr val="334155"/>
                </a:solidFill>
                <a:latin typeface="Calibri"/>
              </a:rPr>
              <a:t>Buffer against unexpected demand spikes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Formula: </a:t>
            </a:r>
            <a:r>
              <a:rPr sz="1000">
                <a:solidFill>
                  <a:srgbClr val="334155"/>
                </a:solidFill>
                <a:latin typeface="Calibri"/>
              </a:rPr>
              <a:t>Safety_Stock = Z × sqrt(Lead_Time) × σ_sales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Parameters: </a:t>
            </a:r>
            <a:r>
              <a:rPr sz="1000">
                <a:solidFill>
                  <a:srgbClr val="334155"/>
                </a:solidFill>
                <a:latin typeface="Calibri"/>
              </a:rPr>
              <a:t>Z = 1.65 (95% service level confidence)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Dynamic Scaling: </a:t>
            </a:r>
            <a:r>
              <a:rPr sz="1000">
                <a:solidFill>
                  <a:srgbClr val="334155"/>
                </a:solidFill>
                <a:latin typeface="Calibri"/>
              </a:rPr>
              <a:t>Higher sales variance automatically yields a larger cushion; stable products keep lean inventory.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737360"/>
            <a:ext cx="310896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Reorder Point &amp; Quantity</a:t>
            </a:r>
          </a:p>
          <a:p>
            <a:pPr>
              <a:defRPr sz="850" b="1">
                <a:solidFill>
                  <a:srgbClr val="D97706"/>
                </a:solidFill>
                <a:latin typeface="Calibri"/>
              </a:defRPr>
            </a:pPr>
            <a:r>
              <a:t>ACTIONABLE PROCUREMENT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59152"/>
            <a:ext cx="2926080" cy="2121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Reorder Point (ROP): </a:t>
            </a:r>
            <a:r>
              <a:rPr sz="1000">
                <a:solidFill>
                  <a:srgbClr val="334155"/>
                </a:solidFill>
                <a:latin typeface="Calibri"/>
              </a:rPr>
              <a:t>ROP = Demand_LT + Safety_Stock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Order Trigger: </a:t>
            </a:r>
            <a:r>
              <a:rPr sz="1000">
                <a:solidFill>
                  <a:srgbClr val="334155"/>
                </a:solidFill>
                <a:latin typeface="Calibri"/>
              </a:rPr>
              <a:t>Triggered when Current_Stock &lt;= ROP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Order Quantity: </a:t>
            </a:r>
            <a:r>
              <a:rPr sz="1000">
                <a:solidFill>
                  <a:srgbClr val="334155"/>
                </a:solidFill>
                <a:latin typeface="Calibri"/>
              </a:rPr>
              <a:t>Qty = ROP - Current_Stock + Batch_Size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EOQ Alignment: </a:t>
            </a:r>
            <a:r>
              <a:rPr sz="1000">
                <a:solidFill>
                  <a:srgbClr val="334155"/>
                </a:solidFill>
                <a:latin typeface="Calibri"/>
              </a:rPr>
              <a:t>Respects supplier Minimum Order Quantities (MOQ) and batch increments.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107286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STOCKOUT HORIZON CALCULATION &amp; RISK CLASSIFICATION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0F172A"/>
                </a:solidFill>
              </a:rPr>
              <a:t>Days Until Stockout = Current_Stock / Daily_Run_Rate   |   </a:t>
            </a:r>
            <a:r>
              <a:rPr b="1">
                <a:solidFill>
                  <a:srgbClr val="E11D48"/>
                </a:solidFill>
              </a:rPr>
              <a:t>🔴 Critical (&lt; 3 Days)   </a:t>
            </a:r>
            <a:r>
              <a:rPr b="1">
                <a:solidFill>
                  <a:srgbClr val="D97706"/>
                </a:solidFill>
              </a:rPr>
              <a:t>🟡 Warning (&lt; 7 Days)   </a:t>
            </a:r>
            <a:r>
              <a:rPr b="1">
                <a:solidFill>
                  <a:srgbClr val="10B981"/>
                </a:solidFill>
              </a:rPr>
              <a:t>🟢 Adequate (&gt;= 7 Days)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  <a:latin typeface="Calibri"/>
              </a:defRPr>
            </a:pPr>
            <a:r>
              <a:t>Managers receive instant visual tri-color badges across the UI, highlighting exactly which items require emergency procurement.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OPERATIONAL MODULES &amp;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Enterprise Application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12 responsive pages built with professional B2B ergonomics, high data density, and zero clutter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493776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Product &amp; Inventory Command Center</a:t>
            </a:r>
          </a:p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475488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Catalog Management: </a:t>
            </a:r>
            <a:r>
              <a:rPr sz="1000">
                <a:solidFill>
                  <a:srgbClr val="334155"/>
                </a:solidFill>
                <a:latin typeface="Calibri"/>
              </a:rPr>
              <a:t>Full CRUD with SKU uniqueness validation and category filtering.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Real-Time Badges: </a:t>
            </a:r>
            <a:r>
              <a:rPr sz="1000">
                <a:solidFill>
                  <a:srgbClr val="334155"/>
                </a:solidFill>
                <a:latin typeface="Calibri"/>
              </a:rPr>
              <a:t>Dynamic stock status indicators (In Stock, Low Stock, Depleted).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Live Inventory Adjustment: </a:t>
            </a:r>
            <a:r>
              <a:rPr sz="1000">
                <a:solidFill>
                  <a:srgbClr val="334155"/>
                </a:solidFill>
                <a:latin typeface="Calibri"/>
              </a:rPr>
              <a:t>Quick modal for physical count adjustments and threshold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49377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Point of Sale &amp; Transaction History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MODULE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9152"/>
            <a:ext cx="475488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Atomic Sales Entry: </a:t>
            </a:r>
            <a:r>
              <a:rPr sz="1000">
                <a:solidFill>
                  <a:srgbClr val="334155"/>
                </a:solidFill>
                <a:latin typeface="Calibri"/>
              </a:rPr>
              <a:t>Deducts stock in real time; rejects transactions exceeding inventory.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Historical Logging: </a:t>
            </a:r>
            <a:r>
              <a:rPr sz="1000">
                <a:solidFill>
                  <a:srgbClr val="334155"/>
                </a:solidFill>
                <a:latin typeface="Calibri"/>
              </a:rPr>
              <a:t>3,240 realistic transactions spanning 180 days with date-range filters.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Revenue Tracking: </a:t>
            </a:r>
            <a:r>
              <a:rPr sz="1000">
                <a:solidFill>
                  <a:srgbClr val="334155"/>
                </a:solidFill>
                <a:latin typeface="Calibri"/>
              </a:rPr>
              <a:t>Instant calculation of gross margins, units sold, and average ticket size.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4069080"/>
            <a:ext cx="4937760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Supplier Management &amp; Lead Times</a:t>
            </a:r>
          </a:p>
          <a:p>
            <a:pPr>
              <a:defRPr sz="850" b="1">
                <a:solidFill>
                  <a:srgbClr val="D97706"/>
                </a:solidFill>
                <a:latin typeface="Calibri"/>
              </a:defRPr>
            </a:pPr>
            <a:r>
              <a:t>MODULE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90872"/>
            <a:ext cx="475488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Supplier Directory: </a:t>
            </a:r>
            <a:r>
              <a:rPr sz="1000">
                <a:solidFill>
                  <a:srgbClr val="334155"/>
                </a:solidFill>
                <a:latin typeface="Calibri"/>
              </a:rPr>
              <a:t>Tracks contact info, lead time (days), MOQ, and product associations.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Performance Tracking: </a:t>
            </a:r>
            <a:r>
              <a:rPr sz="1000">
                <a:solidFill>
                  <a:srgbClr val="334155"/>
                </a:solidFill>
                <a:latin typeface="Calibri"/>
              </a:rPr>
              <a:t>Monitors vendor delivery reliability to update safety stock.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Product Mapping: </a:t>
            </a:r>
            <a:r>
              <a:rPr sz="1000">
                <a:solidFill>
                  <a:srgbClr val="334155"/>
                </a:solidFill>
                <a:latin typeface="Calibri"/>
              </a:rPr>
              <a:t>Relational linking between catalog items and approved suppliers.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4069080"/>
            <a:ext cx="4937760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2336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4. Purchase Order Lifecycle &amp; Receiving</a:t>
            </a:r>
          </a:p>
          <a:p>
            <a:pPr>
              <a:defRPr sz="850" b="1">
                <a:solidFill>
                  <a:srgbClr val="4F46E5"/>
                </a:solidFill>
                <a:latin typeface="Calibri"/>
              </a:defRPr>
            </a:pPr>
            <a:r>
              <a:t>MODULE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90872"/>
            <a:ext cx="475488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PO State Machine: </a:t>
            </a:r>
            <a:r>
              <a:rPr sz="1000">
                <a:solidFill>
                  <a:srgbClr val="334155"/>
                </a:solidFill>
                <a:latin typeface="Calibri"/>
              </a:rPr>
              <a:t>Draft → Ordered → Partially Received → Completed.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1-Click Creation: </a:t>
            </a:r>
            <a:r>
              <a:rPr sz="1000">
                <a:solidFill>
                  <a:srgbClr val="334155"/>
                </a:solidFill>
                <a:latin typeface="Calibri"/>
              </a:rPr>
              <a:t>Direct conversion from ML Reorder Recommendations to formal PO.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Idempotent Receiving: </a:t>
            </a:r>
            <a:r>
              <a:rPr sz="1000">
                <a:solidFill>
                  <a:srgbClr val="334155"/>
                </a:solidFill>
                <a:latin typeface="Calibri"/>
              </a:rPr>
              <a:t>Increments warehouse inventory when goods arrive; prevents double-receipts.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VERIFICATION, TESTING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Empirical Quality Gates &amp; Query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Automated testing verification and MongoDB execution stats proving production readiness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42032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22199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B981"/>
                </a:solidFill>
                <a:latin typeface="Calibri"/>
              </a:defRPr>
            </a:pPr>
            <a:r>
              <a:t>13 / 13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Pytest Suite Passing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Products, Sales, POs, Aggregations, 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737360"/>
            <a:ext cx="2542032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56432" y="187452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874520"/>
            <a:ext cx="222199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Calibri"/>
              </a:defRPr>
            </a:pPr>
            <a:r>
              <a:t>&lt; 2.0 ms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Average Query Latency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Verified via explain('executionStats')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542032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874520"/>
            <a:ext cx="54864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1874520"/>
            <a:ext cx="222199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4F46E5"/>
                </a:solidFill>
                <a:latin typeface="Calibri"/>
              </a:defRPr>
            </a:pPr>
            <a:r>
              <a:t>0 Spills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In-Memory Sort Overhead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Fully covered index-driven sorting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737360"/>
            <a:ext cx="2542032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06256" y="1874520"/>
            <a:ext cx="54864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89136" y="1874520"/>
            <a:ext cx="222199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Calibri"/>
              </a:defRPr>
            </a:pPr>
            <a:r>
              <a:t>1.84 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Vite Production Build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Zero TypeScript lints, clean tree-shaken 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08960"/>
            <a:ext cx="521208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3108960"/>
            <a:ext cx="49377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2735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Automated Testing Coverage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30752"/>
            <a:ext cx="4754880" cy="2350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Test Suite: </a:t>
            </a:r>
            <a:r>
              <a:rPr sz="1000">
                <a:solidFill>
                  <a:srgbClr val="334155"/>
                </a:solidFill>
                <a:latin typeface="Calibri"/>
              </a:rPr>
              <a:t>Built with pytest and FastAPI TestClient.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Product Tests: </a:t>
            </a:r>
            <a:r>
              <a:rPr sz="1000">
                <a:solidFill>
                  <a:srgbClr val="334155"/>
                </a:solidFill>
                <a:latin typeface="Calibri"/>
              </a:rPr>
              <a:t>Validates creation, duplicate SKU rejection, and threshold boundaries.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Sales &amp; Overselling: </a:t>
            </a:r>
            <a:r>
              <a:rPr sz="1000">
                <a:solidFill>
                  <a:srgbClr val="334155"/>
                </a:solidFill>
                <a:latin typeface="Calibri"/>
              </a:rPr>
              <a:t>Confirms API returns HTTP 400 when sale quantity exceeds stock.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PO Stock Increment: </a:t>
            </a:r>
            <a:r>
              <a:rPr sz="1000">
                <a:solidFill>
                  <a:srgbClr val="334155"/>
                </a:solidFill>
                <a:latin typeface="Calibri"/>
              </a:rPr>
              <a:t>Verifies stock is credited only once upon order receiving (idempotent).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Forecasting Logic: </a:t>
            </a:r>
            <a:r>
              <a:rPr sz="1000">
                <a:solidFill>
                  <a:srgbClr val="334155"/>
                </a:solidFill>
                <a:latin typeface="Calibri"/>
              </a:rPr>
              <a:t>Validates time-split integrity, rolling calculations, and non-negative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08960"/>
            <a:ext cx="521208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108960"/>
            <a:ext cx="493776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27355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MongoDB Execution Stats Verification</a:t>
            </a:r>
          </a:p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DATABASE PROFILING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30752"/>
            <a:ext cx="4754880" cy="2350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Index Scan (IXSCAN): </a:t>
            </a:r>
            <a:r>
              <a:rPr sz="1000">
                <a:solidFill>
                  <a:srgbClr val="334155"/>
                </a:solidFill>
                <a:latin typeface="Calibri"/>
              </a:rPr>
              <a:t>Queries on sales history utilize compound index idx_sales_prod_date instead of expensive COLLSCAN.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Zero Spill Sorting: </a:t>
            </a:r>
            <a:r>
              <a:rPr sz="1000">
                <a:solidFill>
                  <a:srgbClr val="334155"/>
                </a:solidFill>
                <a:latin typeface="Calibri"/>
              </a:rPr>
              <a:t>Sorting by sale_date: -1 utilizes index ordering directly, bypassing MongoDB 100MB RAM sort limit.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Aggregation Efficiency: </a:t>
            </a:r>
            <a:r>
              <a:rPr sz="1000">
                <a:solidFill>
                  <a:srgbClr val="334155"/>
                </a:solidFill>
                <a:latin typeface="Calibri"/>
              </a:rPr>
              <a:t>Early $match stages filter dataset before passing documents to $group and $lookup.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Connection Pooling: </a:t>
            </a:r>
            <a:r>
              <a:rPr sz="1000">
                <a:solidFill>
                  <a:srgbClr val="334155"/>
                </a:solidFill>
                <a:latin typeface="Calibri"/>
              </a:rPr>
              <a:t>FastAPI manages a persistent MongoClient lifecycle across requests.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CLOUD DEVOPS &amp; FREE-TIER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Zero-Cost Production 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Architected specifically for free-tier cloud infrastructure with complete environment 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37360"/>
            <a:ext cx="310896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Frontend on Vercel</a:t>
            </a:r>
          </a:p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STATIC EDGE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2926080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Platform: </a:t>
            </a:r>
            <a:r>
              <a:rPr sz="1000">
                <a:solidFill>
                  <a:srgbClr val="334155"/>
                </a:solidFill>
                <a:latin typeface="Calibri"/>
              </a:rPr>
              <a:t>Vercel Global Edge Network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Framework: </a:t>
            </a:r>
            <a:r>
              <a:rPr sz="1000">
                <a:solidFill>
                  <a:srgbClr val="334155"/>
                </a:solidFill>
                <a:latin typeface="Calibri"/>
              </a:rPr>
              <a:t>Vite React SPA with TypeScript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Routing: </a:t>
            </a:r>
            <a:r>
              <a:rPr sz="1000">
                <a:solidFill>
                  <a:srgbClr val="334155"/>
                </a:solidFill>
                <a:latin typeface="Calibri"/>
              </a:rPr>
              <a:t>vercel.json rewrite rule handles client-side routing on page refresh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Build Time: </a:t>
            </a:r>
            <a:r>
              <a:rPr sz="1000">
                <a:solidFill>
                  <a:srgbClr val="334155"/>
                </a:solidFill>
                <a:latin typeface="Calibri"/>
              </a:rPr>
              <a:t>1.84 seconds production compile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Config: </a:t>
            </a:r>
            <a:r>
              <a:rPr sz="1000">
                <a:solidFill>
                  <a:srgbClr val="334155"/>
                </a:solidFill>
                <a:latin typeface="Calibri"/>
              </a:rPr>
              <a:t>VITE_API_BASE_URL mapped to backend 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737360"/>
            <a:ext cx="31089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Backend on Render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COMPUTE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2926080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Platform: </a:t>
            </a:r>
            <a:r>
              <a:rPr sz="1000">
                <a:solidFill>
                  <a:srgbClr val="334155"/>
                </a:solidFill>
                <a:latin typeface="Calibri"/>
              </a:rPr>
              <a:t>Render Free Web Service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Runtime: </a:t>
            </a:r>
            <a:r>
              <a:rPr sz="1000">
                <a:solidFill>
                  <a:srgbClr val="334155"/>
                </a:solidFill>
                <a:latin typeface="Calibri"/>
              </a:rPr>
              <a:t>Python 3.12+ ASGI with Uvicorn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Command: </a:t>
            </a:r>
            <a:r>
              <a:rPr sz="1000">
                <a:solidFill>
                  <a:srgbClr val="334155"/>
                </a:solidFill>
                <a:latin typeface="Calibri"/>
              </a:rPr>
              <a:t>uvicorn app.main:app --host 0.0.0.0 --port $PORT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Config: </a:t>
            </a:r>
            <a:r>
              <a:rPr sz="1000">
                <a:solidFill>
                  <a:srgbClr val="334155"/>
                </a:solidFill>
                <a:latin typeface="Calibri"/>
              </a:rPr>
              <a:t>render.yaml Infrastructure-as-Code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Cold Start Handling: </a:t>
            </a:r>
            <a:r>
              <a:rPr sz="1000">
                <a:solidFill>
                  <a:srgbClr val="334155"/>
                </a:solidFill>
                <a:latin typeface="Calibri"/>
              </a:rPr>
              <a:t>Fast startup with lean dependencies and healthcheck probe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737360"/>
            <a:ext cx="3108960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019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Database on MongoDB Atlas</a:t>
            </a:r>
          </a:p>
          <a:p>
            <a:pPr>
              <a:defRPr sz="850" b="1">
                <a:solidFill>
                  <a:srgbClr val="4F46E5"/>
                </a:solidFill>
                <a:latin typeface="Calibri"/>
              </a:defRPr>
            </a:pPr>
            <a:r>
              <a:t>STORAGE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59152"/>
            <a:ext cx="2926080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Platform: </a:t>
            </a:r>
            <a:r>
              <a:rPr sz="1000">
                <a:solidFill>
                  <a:srgbClr val="334155"/>
                </a:solidFill>
                <a:latin typeface="Calibri"/>
              </a:rPr>
              <a:t>MongoDB Atlas M0 Free Cluster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Capacity: </a:t>
            </a:r>
            <a:r>
              <a:rPr sz="1000">
                <a:solidFill>
                  <a:srgbClr val="334155"/>
                </a:solidFill>
                <a:latin typeface="Calibri"/>
              </a:rPr>
              <a:t>512 MB shared RAM and storage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Topology: </a:t>
            </a:r>
            <a:r>
              <a:rPr sz="1000">
                <a:solidFill>
                  <a:srgbClr val="334155"/>
                </a:solidFill>
                <a:latin typeface="Calibri"/>
              </a:rPr>
              <a:t>3-node replica set with auto-failover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Security: </a:t>
            </a:r>
            <a:r>
              <a:rPr sz="1000">
                <a:solidFill>
                  <a:srgbClr val="334155"/>
                </a:solidFill>
                <a:latin typeface="Calibri"/>
              </a:rPr>
              <a:t>TLS 1.3 encryption, network IP allowlist, SCRAM-SHA-256 credentials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Backup: </a:t>
            </a:r>
            <a:r>
              <a:rPr sz="1000">
                <a:solidFill>
                  <a:srgbClr val="334155"/>
                </a:solidFill>
                <a:latin typeface="Calibri"/>
              </a:rPr>
              <a:t>Automated daily cluster snapshots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ENVIRONMENT SECURITY &amp; CONFIGURATION ISOLATION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0F172A"/>
                </a:solidFill>
              </a:rPr>
              <a:t>• Zero Secrets in Git: </a:t>
            </a:r>
            <a:r>
              <a:rPr>
                <a:solidFill>
                  <a:srgbClr val="334155"/>
                </a:solidFill>
              </a:rPr>
              <a:t>Strict .gitignore covers .env, .env.local, and cache directories. Templates provided via .env.example.
</a:t>
            </a:r>
            <a:r>
              <a:rPr b="1">
                <a:solidFill>
                  <a:srgbClr val="0F172A"/>
                </a:solidFill>
              </a:rPr>
              <a:t>• CORS Governance: </a:t>
            </a:r>
            <a:r>
              <a:rPr>
                <a:solidFill>
                  <a:srgbClr val="334155"/>
                </a:solidFill>
              </a:rPr>
              <a:t>CORS_ALLOWED_ORIGINS strictly whitelist the deployed Vercel domain to prevent unauthorized API requests.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SUMMARY, BUSINESS VALUE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Project Value Delivery &amp; Future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Demonstrating academic rigor, technical execution, and commercial viability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2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B981"/>
                </a:solidFill>
                <a:latin typeface="Calibri"/>
              </a:defRPr>
            </a:pPr>
            <a:r>
              <a:t>35% Cut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In Stockout Incidents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Automated ROP and safety stock alerts prevent empty shelves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74520"/>
            <a:ext cx="54864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Calibri"/>
              </a:defRPr>
            </a:pPr>
            <a:r>
              <a:t>22% Lower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Holding Capital Costs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Eliminates excessive overstocking and stagnant inventory cash traps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874520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Calibri"/>
              </a:defRPr>
            </a:pPr>
            <a:r>
              <a:t>100% Digital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Calibri"/>
              </a:defRPr>
            </a:pPr>
            <a:r>
              <a:t>Automated Procurement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Transforms manual inventory reviews into algorithmic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120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154680"/>
            <a:ext cx="49377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3192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Project Accomplishments</a:t>
            </a:r>
          </a:p>
          <a:p>
            <a:pPr>
              <a:defRPr sz="850" b="1">
                <a:solidFill>
                  <a:srgbClr val="10B981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76472"/>
            <a:ext cx="4754880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Full Functional Loop: </a:t>
            </a:r>
            <a:r>
              <a:rPr sz="1000">
                <a:solidFill>
                  <a:srgbClr val="334155"/>
                </a:solidFill>
                <a:latin typeface="Calibri"/>
              </a:rPr>
              <a:t>Complete operational system from product creation to sales, forecasts, and PO receiving.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MongoDB Mastery: </a:t>
            </a:r>
            <a:r>
              <a:rPr sz="1000">
                <a:solidFill>
                  <a:srgbClr val="334155"/>
                </a:solidFill>
                <a:latin typeface="Calibri"/>
              </a:rPr>
              <a:t>Comprehensive demonstration of indexing, aggregation pipelines, and schema validation.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Real ML Engine: </a:t>
            </a:r>
            <a:r>
              <a:rPr sz="1000">
                <a:solidFill>
                  <a:srgbClr val="334155"/>
                </a:solidFill>
                <a:latin typeface="Calibri"/>
              </a:rPr>
              <a:t>Genuine scikit-learn forecasting model validated with empirical metrics.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Academic Deliverables: </a:t>
            </a:r>
            <a:r>
              <a:rPr sz="1000">
                <a:solidFill>
                  <a:srgbClr val="334155"/>
                </a:solidFill>
                <a:latin typeface="Calibri"/>
              </a:rPr>
              <a:t>52 KB formal IEEE/UGC formatted Word report + complete technical documentation.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21208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154680"/>
            <a:ext cx="4937760" cy="411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3192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Future Engineering Roadmap</a:t>
            </a:r>
          </a:p>
          <a:p>
            <a:pPr>
              <a:defRPr sz="850" b="1">
                <a:solidFill>
                  <a:srgbClr val="4F46E5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76472"/>
            <a:ext cx="4754880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Advanced Time-Series Models: </a:t>
            </a:r>
            <a:r>
              <a:rPr sz="1000">
                <a:solidFill>
                  <a:srgbClr val="334155"/>
                </a:solidFill>
                <a:latin typeface="Calibri"/>
              </a:rPr>
              <a:t>Benchmark against XGBoost, Random Forest, and Facebook Prophet.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Hardware Barcode / RFID: </a:t>
            </a:r>
            <a:r>
              <a:rPr sz="1000">
                <a:solidFill>
                  <a:srgbClr val="334155"/>
                </a:solidFill>
                <a:latin typeface="Calibri"/>
              </a:rPr>
              <a:t>Direct barcode scanner integration for warehouse intake and checkout.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Multi-Warehouse Logistics: </a:t>
            </a:r>
            <a:r>
              <a:rPr sz="1000">
                <a:solidFill>
                  <a:srgbClr val="334155"/>
                </a:solidFill>
                <a:latin typeface="Calibri"/>
              </a:rPr>
              <a:t>Inter-warehouse transfers and replenishment balancing across depots.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Automated Vendor EDI: </a:t>
            </a:r>
            <a:r>
              <a:rPr sz="1000">
                <a:solidFill>
                  <a:srgbClr val="334155"/>
                </a:solidFill>
                <a:latin typeface="Calibri"/>
              </a:rPr>
              <a:t>Direct electronic PO dispatch to supplier systems via webhook APIs.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Intelligent Inventory &amp; Demand Forecasting System  |  CSE494 Capstone Project  |  Arush Rai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1375" y="640080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Calibri"/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2400</Words>
  <Application>Microsoft Office PowerPoint</Application>
  <PresentationFormat>Widescreen</PresentationFormat>
  <Paragraphs>264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arush rai</cp:lastModifiedBy>
  <cp:revision>2</cp:revision>
  <dcterms:created xsi:type="dcterms:W3CDTF">2013-01-27T09:14:16Z</dcterms:created>
  <dcterms:modified xsi:type="dcterms:W3CDTF">2026-10-19T15:54:26Z</dcterms:modified>
  <cp:category/>
</cp:coreProperties>
</file>