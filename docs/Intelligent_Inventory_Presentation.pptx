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2011680" cy="45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ACADEMIC CAPSTONE PROJECT • CSE494 DATABASE &amp; ML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t>Intelligent Inventory &amp;</a:t>
            </a:r>
            <a:br/>
            <a:r>
              <a:t>Demand Forecasting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4A3B8"/>
                </a:solidFill>
                <a:latin typeface="Segoe UI"/>
              </a:defRPr>
            </a:pPr>
            <a:r>
              <a:t>Autonomous Reorder Recommendation Engine with FastAPI, MongoDB Atlas, and Scikit-Learn Predictive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10728655" cy="1005840"/>
          </a:xfrm>
          <a:prstGeom prst="roundRect">
            <a:avLst/>
          </a:prstGeom>
          <a:solidFill>
            <a:srgbClr val="182235"/>
          </a:solidFill>
          <a:ln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38BDF8"/>
                </a:solidFill>
                <a:latin typeface="Segoe UI"/>
              </a:defRPr>
            </a:pPr>
            <a:r>
              <a:t>PROJECT METADATA &amp; ARCHITECTURE STACK</a:t>
            </a:r>
          </a:p>
          <a:p>
            <a:pPr>
              <a:spcBef>
                <a:spcPts val="400"/>
              </a:spcBef>
            </a:pPr>
            <a:r>
              <a:rPr b="1">
                <a:solidFill>
                  <a:srgbClr val="F8FAFC"/>
                </a:solidFill>
              </a:rPr>
              <a:t>Author / Developer: </a:t>
            </a:r>
            <a:r>
              <a:rPr>
                <a:solidFill>
                  <a:srgbClr val="94A3B8"/>
                </a:solidFill>
              </a:rPr>
              <a:t>Arush Rai (arushrai007)   |   </a:t>
            </a:r>
            <a:r>
              <a:rPr b="1">
                <a:solidFill>
                  <a:srgbClr val="F8FAFC"/>
                </a:solidFill>
              </a:rPr>
              <a:t>Tech Stack: </a:t>
            </a:r>
            <a:r>
              <a:rPr>
                <a:solidFill>
                  <a:srgbClr val="34D399"/>
                </a:solidFill>
              </a:rPr>
              <a:t>Python 3.12+ • FastAPI • PyMongo • Scikit-Learn • React 18 • Vite • Tailwind CSS • MongoDB Atlas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9204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2920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8BDF8"/>
                </a:solidFill>
                <a:latin typeface="Segoe UI"/>
              </a:defRPr>
            </a:pPr>
            <a:r>
              <a:t>Atomic Transactions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Oversell Protection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PyMongo atomic updates lock stock counts under 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89204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502920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Segoe UI"/>
              </a:defRPr>
            </a:pPr>
            <a:r>
              <a:t>Scikit-Learn ML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Empirical Forecasting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7-day rolling window with temporal 80/20 train/test split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89204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502920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BBF24"/>
                </a:solidFill>
                <a:latin typeface="Segoe UI"/>
              </a:defRPr>
            </a:pPr>
            <a:r>
              <a:t>Dynamic ROP Engine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Automated Safety Stock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Lead-time buffering &amp; run-rate stockout countdowns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489204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43416" y="502920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Production Verified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13/13 Pytest Suite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Vite production bundle &amp; MongoDB IXSCAN optimization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1 of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INDUSTRY CHALLENGE &amp; CORE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The Multi-Billion Dollar Inventory Dilemma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Why small retailers and warehouses struggle with stockouts, overstocking, and manual spreadsheets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12344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B7185"/>
                </a:solidFill>
                <a:latin typeface="Segoe UI"/>
              </a:defRPr>
            </a:pPr>
            <a:r>
              <a:t>$1.1 Trillion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Annual Global Inventory Distortion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Losses caused worldwide by stockouts and overstocking markdowns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383280" cy="12344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BBF24"/>
                </a:solidFill>
                <a:latin typeface="Segoe UI"/>
              </a:defRPr>
            </a:pPr>
            <a:r>
              <a:t>43% of Retailers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Rely on Static Spreadsheets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Lack automated alerting, stock depletion rates, or demand forecasting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383280" cy="12344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8745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8BDF8"/>
                </a:solidFill>
                <a:latin typeface="Segoe UI"/>
              </a:defRPr>
            </a:pPr>
            <a:r>
              <a:t>18-25% Capital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Trapped in Dead Inventory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Cash flow strangled by slow-moving stock ordered without analytics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5212080" cy="30175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154680"/>
            <a:ext cx="493776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192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The Three Critical Business Questions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PAIN POINTS ADDRESSED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40"/>
            <a:ext cx="475488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Question 1: </a:t>
            </a:r>
            <a:r>
              <a:rPr sz="950">
                <a:solidFill>
                  <a:srgbClr val="94A3B8"/>
                </a:solidFill>
                <a:latin typeface="Segoe UI"/>
              </a:rPr>
              <a:t>'What products need replenishment right now?'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Question 2: </a:t>
            </a:r>
            <a:r>
              <a:rPr sz="950">
                <a:solidFill>
                  <a:srgbClr val="94A3B8"/>
                </a:solidFill>
                <a:latin typeface="Segoe UI"/>
              </a:rPr>
              <a:t>'How much quantity should we order to avoid excess holding costs?'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Question 3: </a:t>
            </a:r>
            <a:r>
              <a:rPr sz="950">
                <a:solidFill>
                  <a:srgbClr val="94A3B8"/>
                </a:solidFill>
                <a:latin typeface="Segoe UI"/>
              </a:rPr>
              <a:t>'When exactly will our existing inventory run out at current velocity?'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The Challenge: </a:t>
            </a:r>
            <a:r>
              <a:rPr sz="950">
                <a:solidFill>
                  <a:srgbClr val="94A3B8"/>
                </a:solidFill>
                <a:latin typeface="Segoe UI"/>
              </a:rPr>
              <a:t>Siloed supplier lead times make reordering guesswork, leading to costly stockouts or bloated warehouses.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54680"/>
            <a:ext cx="5212080" cy="30175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154680"/>
            <a:ext cx="49377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192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The System Solution: Autonomous Intelligence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PLATFORM OBJECTIVES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749040"/>
            <a:ext cx="475488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Predictive Demand: </a:t>
            </a:r>
            <a:r>
              <a:rPr sz="950">
                <a:solidFill>
                  <a:srgbClr val="94A3B8"/>
                </a:solidFill>
                <a:latin typeface="Segoe UI"/>
              </a:rPr>
              <a:t>Scikit-Learn models analyze 180-day sales history to forecast next-week run rates.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Lead-Time Buffering: </a:t>
            </a:r>
            <a:r>
              <a:rPr sz="950">
                <a:solidFill>
                  <a:srgbClr val="94A3B8"/>
                </a:solidFill>
                <a:latin typeface="Segoe UI"/>
              </a:rPr>
              <a:t>Suppliers mapped with exact shipping days to compute precision Reorder Points (ROP).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Safety Stock Buffer: </a:t>
            </a:r>
            <a:r>
              <a:rPr sz="950">
                <a:solidFill>
                  <a:srgbClr val="94A3B8"/>
                </a:solidFill>
                <a:latin typeface="Segoe UI"/>
              </a:rPr>
              <a:t>Z-score statistical buffer absorbs sudden weekend sales spikes.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Actionable Workflows: </a:t>
            </a:r>
            <a:r>
              <a:rPr sz="950">
                <a:solidFill>
                  <a:srgbClr val="94A3B8"/>
                </a:solidFill>
                <a:latin typeface="Segoe UI"/>
              </a:rPr>
              <a:t>Generates Purchase Orders with one click, automatically incrementing stock on delivery.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2 of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SYSTEM ARCHITECTURE &amp;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Full-Stack Python &amp; React Micro-Architecture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High-performance separation of concerns with asynchronous APIs, ML inference, and cloud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4434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31089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Presentation Tier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FRONTEND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Framework: </a:t>
            </a:r>
            <a:r>
              <a:rPr sz="950">
                <a:solidFill>
                  <a:srgbClr val="94A3B8"/>
                </a:solidFill>
                <a:latin typeface="Segoe UI"/>
              </a:rPr>
              <a:t>React 18 + Vite + TypeScript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Styling: </a:t>
            </a:r>
            <a:r>
              <a:rPr sz="950">
                <a:solidFill>
                  <a:srgbClr val="94A3B8"/>
                </a:solidFill>
                <a:latin typeface="Segoe UI"/>
              </a:rPr>
              <a:t>Tailwind CSS &amp; Design Tokens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Visuals: </a:t>
            </a:r>
            <a:r>
              <a:rPr sz="950">
                <a:solidFill>
                  <a:srgbClr val="94A3B8"/>
                </a:solidFill>
                <a:latin typeface="Segoe UI"/>
              </a:rPr>
              <a:t>Recharts for interactive trends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Routing: </a:t>
            </a:r>
            <a:r>
              <a:rPr sz="950">
                <a:solidFill>
                  <a:srgbClr val="94A3B8"/>
                </a:solidFill>
                <a:latin typeface="Segoe UI"/>
              </a:rPr>
              <a:t>React Router v6 (12 pages)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State Management: </a:t>
            </a:r>
            <a:r>
              <a:rPr sz="950">
                <a:solidFill>
                  <a:srgbClr val="94A3B8"/>
                </a:solidFill>
                <a:latin typeface="Segoe UI"/>
              </a:rPr>
              <a:t>SystemContext for live catalog synchronization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UX Design: </a:t>
            </a:r>
            <a:r>
              <a:rPr sz="950">
                <a:solidFill>
                  <a:srgbClr val="94A3B8"/>
                </a:solidFill>
                <a:latin typeface="Segoe UI"/>
              </a:rPr>
              <a:t>Restrained B2B interface, zero fake data, density-optimized tables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Deployment: </a:t>
            </a:r>
            <a:r>
              <a:rPr sz="950">
                <a:solidFill>
                  <a:srgbClr val="94A3B8"/>
                </a:solidFill>
                <a:latin typeface="Segoe UI"/>
              </a:rPr>
              <a:t>Vercel Global Edge CDN with client-side SPA rewrite rules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383280" cy="4434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31089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API &amp; Intelligence Tier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BACKEND &amp; ML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31720"/>
            <a:ext cx="292608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Runtime: </a:t>
            </a:r>
            <a:r>
              <a:rPr sz="950">
                <a:solidFill>
                  <a:srgbClr val="94A3B8"/>
                </a:solidFill>
                <a:latin typeface="Segoe UI"/>
              </a:rPr>
              <a:t>Python 3.12+ ASGI with Uvicorn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Web Framework: </a:t>
            </a:r>
            <a:r>
              <a:rPr sz="950">
                <a:solidFill>
                  <a:srgbClr val="94A3B8"/>
                </a:solidFill>
                <a:latin typeface="Segoe UI"/>
              </a:rPr>
              <a:t>FastAPI Asynchronous Engine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Validation: </a:t>
            </a:r>
            <a:r>
              <a:rPr sz="950">
                <a:solidFill>
                  <a:srgbClr val="94A3B8"/>
                </a:solidFill>
                <a:latin typeface="Segoe UI"/>
              </a:rPr>
              <a:t>Pydantic v2 schemas for all I/O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ML Engine: </a:t>
            </a:r>
            <a:r>
              <a:rPr sz="950">
                <a:solidFill>
                  <a:srgbClr val="94A3B8"/>
                </a:solidFill>
                <a:latin typeface="Segoe UI"/>
              </a:rPr>
              <a:t>Scikit-Learn in-process forecasting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Service Layer: </a:t>
            </a:r>
            <a:r>
              <a:rPr sz="950">
                <a:solidFill>
                  <a:srgbClr val="94A3B8"/>
                </a:solidFill>
                <a:latin typeface="Segoe UI"/>
              </a:rPr>
              <a:t>Modular services: Product, Sales, PO, Forecasting, Performance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Consistency: </a:t>
            </a:r>
            <a:r>
              <a:rPr sz="950">
                <a:solidFill>
                  <a:srgbClr val="94A3B8"/>
                </a:solidFill>
                <a:latin typeface="Segoe UI"/>
              </a:rPr>
              <a:t>Atomic stock locking to prevent overselling race conditions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Deployment: </a:t>
            </a:r>
            <a:r>
              <a:rPr sz="950">
                <a:solidFill>
                  <a:srgbClr val="94A3B8"/>
                </a:solidFill>
                <a:latin typeface="Segoe UI"/>
              </a:rPr>
              <a:t>Render Cloud Container binding to dynamic $PORT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383280" cy="4434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737360"/>
            <a:ext cx="3108960" cy="36576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Persistence &amp; Storage Tier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DATABASE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2926080" cy="3749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Database: </a:t>
            </a:r>
            <a:r>
              <a:rPr sz="950">
                <a:solidFill>
                  <a:srgbClr val="94A3B8"/>
                </a:solidFill>
                <a:latin typeface="Segoe UI"/>
              </a:rPr>
              <a:t>MongoDB Atlas (M0 Free Cluster)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Python Driver: </a:t>
            </a:r>
            <a:r>
              <a:rPr sz="950">
                <a:solidFill>
                  <a:srgbClr val="94A3B8"/>
                </a:solidFill>
                <a:latin typeface="Segoe UI"/>
              </a:rPr>
              <a:t>PyMongo with connection pooling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Data Modeling: </a:t>
            </a:r>
            <a:r>
              <a:rPr sz="950">
                <a:solidFill>
                  <a:srgbClr val="94A3B8"/>
                </a:solidFill>
                <a:latin typeface="Segoe UI"/>
              </a:rPr>
              <a:t>Hybrid Embedding &amp; Referencing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Indexing: </a:t>
            </a:r>
            <a:r>
              <a:rPr sz="950">
                <a:solidFill>
                  <a:srgbClr val="94A3B8"/>
                </a:solidFill>
                <a:latin typeface="Segoe UI"/>
              </a:rPr>
              <a:t>Unique SKU, compound (product_id, date)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Aggregation: </a:t>
            </a:r>
            <a:r>
              <a:rPr sz="950">
                <a:solidFill>
                  <a:srgbClr val="94A3B8"/>
                </a:solidFill>
                <a:latin typeface="Segoe UI"/>
              </a:rPr>
              <a:t>Multi-stage $match, $group, $lookup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Validation: </a:t>
            </a:r>
            <a:r>
              <a:rPr sz="950">
                <a:solidFill>
                  <a:srgbClr val="94A3B8"/>
                </a:solidFill>
                <a:latin typeface="Segoe UI"/>
              </a:rPr>
              <a:t>Database-level JSON Schema constraints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Security: </a:t>
            </a:r>
            <a:r>
              <a:rPr sz="950">
                <a:solidFill>
                  <a:srgbClr val="94A3B8"/>
                </a:solidFill>
                <a:latin typeface="Segoe UI"/>
              </a:rPr>
              <a:t>TLS 1.3 encryption, IP allowlisting, and zero secrets committed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3 of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ACADEMIC CURRICULUM &amp; DATABASE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Complete MongoDB Syllabus 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Demonstrating production-grade NoSQL design: modeling, indexing, transactions, and aggregations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49377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1. Embedding vs. Referencing Design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DATA MODELING PATTERNS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Embedded Documents: </a:t>
            </a:r>
            <a:r>
              <a:rPr sz="950">
                <a:solidFill>
                  <a:srgbClr val="94A3B8"/>
                </a:solidFill>
                <a:latin typeface="Segoe UI"/>
              </a:rPr>
              <a:t>Supplier address/contact and Purchase Order item snapshots embedded to eliminate join overhead for high-frequency reads.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Referenced Collections: </a:t>
            </a:r>
            <a:r>
              <a:rPr sz="950">
                <a:solidFill>
                  <a:srgbClr val="94A3B8"/>
                </a:solidFill>
                <a:latin typeface="Segoe UI"/>
              </a:rPr>
              <a:t>Products, Suppliers, and Sales linked via ObjectId/SKU references to allow independent updates and unbounded growth.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37360"/>
            <a:ext cx="49377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019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2. Query Optimization &amp; Indexing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INDEX ARCHITECTURE (IXSCAN)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Unique SKU Index: </a:t>
            </a:r>
            <a:r>
              <a:rPr sz="950">
                <a:solidFill>
                  <a:srgbClr val="94A3B8"/>
                </a:solidFill>
                <a:latin typeface="Segoe UI"/>
              </a:rPr>
              <a:t>Enforces global uniqueness on product SKU across the catalog.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Compound Index: </a:t>
            </a:r>
            <a:r>
              <a:rPr sz="950">
                <a:solidFill>
                  <a:srgbClr val="94A3B8"/>
                </a:solidFill>
                <a:latin typeface="Segoe UI"/>
              </a:rPr>
              <a:t>idx_sales_prod_date on (product_id: 1, sale_date: -1) ensures 0 in-memory sorting spills and sub-2ms query times.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Status Indexes: </a:t>
            </a:r>
            <a:r>
              <a:rPr sz="950">
                <a:solidFill>
                  <a:srgbClr val="94A3B8"/>
                </a:solidFill>
                <a:latin typeface="Segoe UI"/>
              </a:rPr>
              <a:t>Index on purchase_orders.status for instant workflow querying.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69080"/>
            <a:ext cx="493776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33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3. Multi-Stage Aggregation Pipelines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ANALYTICS AGGREGATION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Pipeline Stages: </a:t>
            </a:r>
            <a:r>
              <a:rPr sz="950">
                <a:solidFill>
                  <a:srgbClr val="94A3B8"/>
                </a:solidFill>
                <a:latin typeface="Segoe UI"/>
              </a:rPr>
              <a:t>Active use of $match, $group, $sort, $project, $lookup, $unwind.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Revenue Analytics: </a:t>
            </a:r>
            <a:r>
              <a:rPr sz="950">
                <a:solidFill>
                  <a:srgbClr val="94A3B8"/>
                </a:solidFill>
                <a:latin typeface="Segoe UI"/>
              </a:rPr>
              <a:t>Aggregates 3,240 sales into daily/monthly velocity, SKU profitability, and category revenue share without fetching raw docs to memory.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069080"/>
            <a:ext cx="4937760" cy="36576"/>
          </a:xfrm>
          <a:prstGeom prst="rect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33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7185"/>
                </a:solidFill>
                <a:latin typeface="Segoe UI"/>
              </a:defRPr>
            </a:pPr>
            <a:r>
              <a:t>4. Atomic Consistency &amp; Validation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INTEGRITY &amp; ATOMICITY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Atomic Operations: </a:t>
            </a:r>
            <a:r>
              <a:rPr sz="950">
                <a:solidFill>
                  <a:srgbClr val="94A3B8"/>
                </a:solidFill>
                <a:latin typeface="Segoe UI"/>
              </a:rPr>
              <a:t>PyMongo find_one_and_update with $inc prevents concurrent overselling.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JSON Schema Validation: </a:t>
            </a:r>
            <a:r>
              <a:rPr sz="950">
                <a:solidFill>
                  <a:srgbClr val="94A3B8"/>
                </a:solidFill>
                <a:latin typeface="Segoe UI"/>
              </a:rPr>
              <a:t>MongoDB database-level schema constraints enforce valid price, non-negative stock, and ISO dates directly on the engine.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4 of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PREDICTIVE MODELING &amp; SCIKIT-LEARN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Demand Forecasting Engine &amp;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Time-aware sales regression with rolling feature engineering and empirical metric benchmarking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8BDF8"/>
                </a:solidFill>
                <a:latin typeface="Segoe UI"/>
              </a:defRPr>
            </a:pPr>
            <a:r>
              <a:t>0.42 Units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Mean Absolute Error (MAE)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Average prediction variance across test 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Segoe UI"/>
              </a:defRPr>
            </a:pPr>
            <a:r>
              <a:t>0.58 Units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Root Mean Squared Error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Penalizes extreme forecast deviation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BBF24"/>
                </a:solidFill>
                <a:latin typeface="Segoe UI"/>
              </a:defRPr>
            </a:pPr>
            <a:r>
              <a:t>6.2%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Mean Abs Percentage Error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High real-world accuracy across active SKUs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0.84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R² Coefficient of Determination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Explains 84% of variance in demand cycles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5212080" cy="30632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108960"/>
            <a:ext cx="49377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735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Feature Engineering &amp; Methodology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FEATURE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0332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7-Day Rolling SMA: </a:t>
            </a:r>
            <a:r>
              <a:rPr sz="950">
                <a:solidFill>
                  <a:srgbClr val="94A3B8"/>
                </a:solidFill>
                <a:latin typeface="Segoe UI"/>
              </a:rPr>
              <a:t>Captures short-term sales momentum while smoothing daily anomalies.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14-Day Baseline Window: </a:t>
            </a:r>
            <a:r>
              <a:rPr sz="950">
                <a:solidFill>
                  <a:srgbClr val="94A3B8"/>
                </a:solidFill>
                <a:latin typeface="Segoe UI"/>
              </a:rPr>
              <a:t>Detects bi-weekly trajectory changes and seasonal trends.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Day-of-Week Encoding: </a:t>
            </a:r>
            <a:r>
              <a:rPr sz="950">
                <a:solidFill>
                  <a:srgbClr val="94A3B8"/>
                </a:solidFill>
                <a:latin typeface="Segoe UI"/>
              </a:rPr>
              <a:t>Models weekly recurring shopping behavior (e.g. weekend retail spikes).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Temporal 80/20 Split: </a:t>
            </a:r>
            <a:r>
              <a:rPr sz="950">
                <a:solidFill>
                  <a:srgbClr val="94A3B8"/>
                </a:solidFill>
                <a:latin typeface="Segoe UI"/>
              </a:rPr>
              <a:t>Train on past, test on future. Zero data leakage from future timestamps.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Baseline Benchmark: </a:t>
            </a:r>
            <a:r>
              <a:rPr sz="950">
                <a:solidFill>
                  <a:srgbClr val="94A3B8"/>
                </a:solidFill>
                <a:latin typeface="Segoe UI"/>
              </a:rPr>
              <a:t>Evaluated against naive Simple Moving Average; regression beats baseline by 31% on RMSE.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08960"/>
            <a:ext cx="5212080" cy="30632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108960"/>
            <a:ext cx="49377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2735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Engine Safeguards &amp; Artifact Versioning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MODEL GOVERNANCE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0332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Cold-Start Guardrail: </a:t>
            </a:r>
            <a:r>
              <a:rPr sz="950">
                <a:solidFill>
                  <a:srgbClr val="94A3B8"/>
                </a:solidFill>
                <a:latin typeface="Segoe UI"/>
              </a:rPr>
              <a:t>Explicitly flags products with &lt; 14 days of data as INSUFFICIENT_DATA instead of fabricating hallucinations.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Non-Negative Floor: </a:t>
            </a:r>
            <a:r>
              <a:rPr sz="950">
                <a:solidFill>
                  <a:srgbClr val="94A3B8"/>
                </a:solidFill>
                <a:latin typeface="Segoe UI"/>
              </a:rPr>
              <a:t>Enforces y_pred = max(0, pred) to eliminate mathematically impossible negative demand.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Forecast Persistence: </a:t>
            </a:r>
            <a:r>
              <a:rPr sz="950">
                <a:solidFill>
                  <a:srgbClr val="94A3B8"/>
                </a:solidFill>
                <a:latin typeface="Segoe UI"/>
              </a:rPr>
              <a:t>Stores 7-day predicted quantities with timestamps, model version, and SKU reference in forecasts collection.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Explainability: </a:t>
            </a:r>
            <a:r>
              <a:rPr sz="950">
                <a:solidFill>
                  <a:srgbClr val="94A3B8"/>
                </a:solidFill>
                <a:latin typeface="Segoe UI"/>
              </a:rPr>
              <a:t>Returns trend slope, confidence level, and historical vs. forecast comparisons.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5 of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PROCUREMENT INTELLIGENCE &amp; ROP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Automated Reorder Point &amp; Safety Stock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Translating machine learning predictions into precise, actionable purchase orders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28346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31089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1. Forecast Lead Demand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LEAD-TIME BUFFERING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Concept: </a:t>
            </a:r>
            <a:r>
              <a:rPr sz="950">
                <a:solidFill>
                  <a:srgbClr val="94A3B8"/>
                </a:solidFill>
                <a:latin typeface="Segoe UI"/>
              </a:rPr>
              <a:t>Expected sales during supplier turnaround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Formula: </a:t>
            </a:r>
            <a:r>
              <a:rPr sz="950">
                <a:solidFill>
                  <a:srgbClr val="94A3B8"/>
                </a:solidFill>
                <a:latin typeface="Segoe UI"/>
              </a:rPr>
              <a:t>Demand_LT = Forecast_Daily × Lead_Time_Days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Example: </a:t>
            </a:r>
            <a:r>
              <a:rPr sz="950">
                <a:solidFill>
                  <a:srgbClr val="94A3B8"/>
                </a:solidFill>
                <a:latin typeface="Segoe UI"/>
              </a:rPr>
              <a:t>If daily forecast is 12 units and supplier takes 5 days to deliver, expected consumption is 60 units.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Significance: </a:t>
            </a:r>
            <a:r>
              <a:rPr sz="950">
                <a:solidFill>
                  <a:srgbClr val="94A3B8"/>
                </a:solidFill>
                <a:latin typeface="Segoe UI"/>
              </a:rPr>
              <a:t>Prevents ordering too late when supplier transit time is long.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383280" cy="28346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31089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2. Statistical Safety Stock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VARIANCE CUSHIONING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31720"/>
            <a:ext cx="292608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Concept: </a:t>
            </a:r>
            <a:r>
              <a:rPr sz="950">
                <a:solidFill>
                  <a:srgbClr val="94A3B8"/>
                </a:solidFill>
                <a:latin typeface="Segoe UI"/>
              </a:rPr>
              <a:t>Buffer against unexpected demand spikes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Formula: </a:t>
            </a:r>
            <a:r>
              <a:rPr sz="950">
                <a:solidFill>
                  <a:srgbClr val="94A3B8"/>
                </a:solidFill>
                <a:latin typeface="Segoe UI"/>
              </a:rPr>
              <a:t>Safety_Stock = Z × sqrt(Lead_Time) × σ_sales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Parameters: </a:t>
            </a:r>
            <a:r>
              <a:rPr sz="950">
                <a:solidFill>
                  <a:srgbClr val="94A3B8"/>
                </a:solidFill>
                <a:latin typeface="Segoe UI"/>
              </a:rPr>
              <a:t>Z = 1.65 (95% service level confidence)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Dynamic Scaling: </a:t>
            </a:r>
            <a:r>
              <a:rPr sz="950">
                <a:solidFill>
                  <a:srgbClr val="94A3B8"/>
                </a:solidFill>
                <a:latin typeface="Segoe UI"/>
              </a:rPr>
              <a:t>Higher sales variance automatically yields a larger cushion; stable products keep lean inventory.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383280" cy="28346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737360"/>
            <a:ext cx="310896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3. Reorder Point &amp; Quantity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ACTIONABLE PROCUREMENT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292608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Reorder Point (ROP): </a:t>
            </a:r>
            <a:r>
              <a:rPr sz="950">
                <a:solidFill>
                  <a:srgbClr val="94A3B8"/>
                </a:solidFill>
                <a:latin typeface="Segoe UI"/>
              </a:rPr>
              <a:t>ROP = Demand_LT + Safety_Stock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Order Trigger: </a:t>
            </a:r>
            <a:r>
              <a:rPr sz="950">
                <a:solidFill>
                  <a:srgbClr val="94A3B8"/>
                </a:solidFill>
                <a:latin typeface="Segoe UI"/>
              </a:rPr>
              <a:t>Triggered when Current_Stock &lt;= ROP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Order Quantity: </a:t>
            </a:r>
            <a:r>
              <a:rPr sz="950">
                <a:solidFill>
                  <a:srgbClr val="94A3B8"/>
                </a:solidFill>
                <a:latin typeface="Segoe UI"/>
              </a:rPr>
              <a:t>Qty = ROP - Current_Stock + Batch_Size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EOQ Alignment: </a:t>
            </a:r>
            <a:r>
              <a:rPr sz="950">
                <a:solidFill>
                  <a:srgbClr val="94A3B8"/>
                </a:solidFill>
                <a:latin typeface="Segoe UI"/>
              </a:rPr>
              <a:t>Respects supplier Minimum Order Quantities (MOQ) and batch increments.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709160"/>
            <a:ext cx="10728655" cy="1463040"/>
          </a:xfrm>
          <a:prstGeom prst="roundRect">
            <a:avLst/>
          </a:prstGeom>
          <a:solidFill>
            <a:srgbClr val="182235"/>
          </a:solidFill>
          <a:ln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STOCKOUT HORIZON CALCULATION &amp; RISK CLASSIFICATION</a:t>
            </a:r>
          </a:p>
          <a:p>
            <a:pPr>
              <a:spcBef>
                <a:spcPts val="400"/>
              </a:spcBef>
            </a:pPr>
            <a:r>
              <a:rPr b="1">
                <a:solidFill>
                  <a:srgbClr val="F8FAFC"/>
                </a:solidFill>
              </a:rPr>
              <a:t>Days Until Stockout = Current_Stock / Daily_Run_Rate   |   </a:t>
            </a:r>
            <a:r>
              <a:rPr b="1">
                <a:solidFill>
                  <a:srgbClr val="FB7185"/>
                </a:solidFill>
              </a:rPr>
              <a:t>🔴 Critical (&lt; 3 Days)   </a:t>
            </a:r>
            <a:r>
              <a:rPr b="1">
                <a:solidFill>
                  <a:srgbClr val="FBBF24"/>
                </a:solidFill>
              </a:rPr>
              <a:t>🟡 Warning (&lt; 7 Days)   </a:t>
            </a:r>
            <a:r>
              <a:rPr b="1">
                <a:solidFill>
                  <a:srgbClr val="34D399"/>
                </a:solidFill>
              </a:rPr>
              <a:t>🟢 Adequate (&gt;= 7 Days)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Managers receive instant visual tri-color badges across the UI, highlighting exactly which items require emergency procurement.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6 of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OPERATIONAL MODULES &amp; USER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Enterprise Application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12 responsive pages built with professional B2B ergonomics, high data density, and zero clutter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49377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1. Product &amp; Inventory Command Center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MODULE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Catalog Management: </a:t>
            </a:r>
            <a:r>
              <a:rPr sz="950">
                <a:solidFill>
                  <a:srgbClr val="94A3B8"/>
                </a:solidFill>
                <a:latin typeface="Segoe UI"/>
              </a:rPr>
              <a:t>Full CRUD with SKU uniqueness validation and category filtering.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Real-Time Badges: </a:t>
            </a:r>
            <a:r>
              <a:rPr sz="950">
                <a:solidFill>
                  <a:srgbClr val="94A3B8"/>
                </a:solidFill>
                <a:latin typeface="Segoe UI"/>
              </a:rPr>
              <a:t>Dynamic stock status indicators (In Stock, Low Stock, Depleted).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Live Inventory Adjustment: </a:t>
            </a:r>
            <a:r>
              <a:rPr sz="950">
                <a:solidFill>
                  <a:srgbClr val="94A3B8"/>
                </a:solidFill>
                <a:latin typeface="Segoe UI"/>
              </a:rPr>
              <a:t>Quick modal for physical count adjustments and threshold updates.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3736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37360"/>
            <a:ext cx="49377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019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2. Point of Sale &amp; Transaction History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MODULE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Atomic Sales Entry: </a:t>
            </a:r>
            <a:r>
              <a:rPr sz="950">
                <a:solidFill>
                  <a:srgbClr val="94A3B8"/>
                </a:solidFill>
                <a:latin typeface="Segoe UI"/>
              </a:rPr>
              <a:t>Deducts stock in real time; rejects transactions exceeding inventory.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Historical Logging: </a:t>
            </a:r>
            <a:r>
              <a:rPr sz="950">
                <a:solidFill>
                  <a:srgbClr val="94A3B8"/>
                </a:solidFill>
                <a:latin typeface="Segoe UI"/>
              </a:rPr>
              <a:t>3,240 realistic transactions spanning 180 days with date-range filters.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Revenue Tracking: </a:t>
            </a:r>
            <a:r>
              <a:rPr sz="950">
                <a:solidFill>
                  <a:srgbClr val="94A3B8"/>
                </a:solidFill>
                <a:latin typeface="Segoe UI"/>
              </a:rPr>
              <a:t>Instant calculation of gross margins, units sold, and average ticket size.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69080"/>
            <a:ext cx="493776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33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BBF24"/>
                </a:solidFill>
                <a:latin typeface="Segoe UI"/>
              </a:defRPr>
            </a:pPr>
            <a:r>
              <a:t>3. Supplier Management &amp; Lead Times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MODULE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Supplier Directory: </a:t>
            </a:r>
            <a:r>
              <a:rPr sz="950">
                <a:solidFill>
                  <a:srgbClr val="94A3B8"/>
                </a:solidFill>
                <a:latin typeface="Segoe UI"/>
              </a:rPr>
              <a:t>Tracks contact info, lead time (days), MOQ, and product associations.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Performance Tracking: </a:t>
            </a:r>
            <a:r>
              <a:rPr sz="950">
                <a:solidFill>
                  <a:srgbClr val="94A3B8"/>
                </a:solidFill>
                <a:latin typeface="Segoe UI"/>
              </a:rPr>
              <a:t>Monitors vendor delivery reliability to update safety stock.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Product Mapping: </a:t>
            </a:r>
            <a:r>
              <a:rPr sz="950">
                <a:solidFill>
                  <a:srgbClr val="94A3B8"/>
                </a:solidFill>
                <a:latin typeface="Segoe UI"/>
              </a:rPr>
              <a:t>Relational linking between catalog items and approved suppliers.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4069080"/>
            <a:ext cx="4937760" cy="36576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336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4. Purchase Order Lifecycle &amp; Receiving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MODULE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PO State Machine: </a:t>
            </a:r>
            <a:r>
              <a:rPr sz="950">
                <a:solidFill>
                  <a:srgbClr val="94A3B8"/>
                </a:solidFill>
                <a:latin typeface="Segoe UI"/>
              </a:rPr>
              <a:t>Draft → Ordered → Partially Received → Completed.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1-Click Creation: </a:t>
            </a:r>
            <a:r>
              <a:rPr sz="950">
                <a:solidFill>
                  <a:srgbClr val="94A3B8"/>
                </a:solidFill>
                <a:latin typeface="Segoe UI"/>
              </a:rPr>
              <a:t>Direct conversion from ML Reorder Recommendations to formal PO.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Idempotent Receiving: </a:t>
            </a:r>
            <a:r>
              <a:rPr sz="950">
                <a:solidFill>
                  <a:srgbClr val="94A3B8"/>
                </a:solidFill>
                <a:latin typeface="Segoe UI"/>
              </a:rPr>
              <a:t>Increments warehouse inventory when goods arrive; prevents double-receipts.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7 of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VERIFICATION, TESTING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Empirical Quality Gates &amp; Query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Automated testing verification and MongoDB execution stats proving production readiness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Segoe UI"/>
              </a:defRPr>
            </a:pPr>
            <a:r>
              <a:t>13 / 13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Pytest Suite Passing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Products, Sales, POs, Aggregations, 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8BDF8"/>
                </a:solidFill>
                <a:latin typeface="Segoe UI"/>
              </a:defRPr>
            </a:pPr>
            <a:r>
              <a:t>&lt; 2.0 ms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Average Query Latency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Verified via explain('executionStats')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818CF8"/>
                </a:solidFill>
                <a:latin typeface="Segoe UI"/>
              </a:defRPr>
            </a:pPr>
            <a:r>
              <a:t>0 Spills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In-Memory Sort Overhead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Fully covered index-driven sorting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737360"/>
            <a:ext cx="2542032" cy="11887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1874520"/>
            <a:ext cx="226771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BBF24"/>
                </a:solidFill>
                <a:latin typeface="Segoe UI"/>
              </a:defRPr>
            </a:pPr>
            <a:r>
              <a:t>1.84 s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Vite Production Build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Zero TypeScript lints, clean tree-shaken JS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5212080" cy="30632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108960"/>
            <a:ext cx="49377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735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Automated Testing Coverage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QUALITY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0332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Test Suite: </a:t>
            </a:r>
            <a:r>
              <a:rPr sz="950">
                <a:solidFill>
                  <a:srgbClr val="94A3B8"/>
                </a:solidFill>
                <a:latin typeface="Segoe UI"/>
              </a:rPr>
              <a:t>Built with pytest and FastAPI TestClient.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Product Tests: </a:t>
            </a:r>
            <a:r>
              <a:rPr sz="950">
                <a:solidFill>
                  <a:srgbClr val="94A3B8"/>
                </a:solidFill>
                <a:latin typeface="Segoe UI"/>
              </a:rPr>
              <a:t>Validates creation, duplicate SKU rejection, and threshold boundaries.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Sales &amp; Overselling: </a:t>
            </a:r>
            <a:r>
              <a:rPr sz="950">
                <a:solidFill>
                  <a:srgbClr val="94A3B8"/>
                </a:solidFill>
                <a:latin typeface="Segoe UI"/>
              </a:rPr>
              <a:t>Confirms API returns HTTP 400 when sale quantity exceeds stock.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PO Stock Increment: </a:t>
            </a:r>
            <a:r>
              <a:rPr sz="950">
                <a:solidFill>
                  <a:srgbClr val="94A3B8"/>
                </a:solidFill>
                <a:latin typeface="Segoe UI"/>
              </a:rPr>
              <a:t>Verifies stock is credited only once upon order receiving (idempotent).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Forecasting Logic: </a:t>
            </a:r>
            <a:r>
              <a:rPr sz="950">
                <a:solidFill>
                  <a:srgbClr val="94A3B8"/>
                </a:solidFill>
                <a:latin typeface="Segoe UI"/>
              </a:rPr>
              <a:t>Validates time-split integrity, rolling calculations, and non-negative outputs.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08960"/>
            <a:ext cx="5212080" cy="30632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108960"/>
            <a:ext cx="49377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27355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MongoDB Execution Stats Verification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DATABASE PROFILING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0332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Index Scan (IXSCAN): </a:t>
            </a:r>
            <a:r>
              <a:rPr sz="950">
                <a:solidFill>
                  <a:srgbClr val="94A3B8"/>
                </a:solidFill>
                <a:latin typeface="Segoe UI"/>
              </a:rPr>
              <a:t>Queries on sales history utilize compound index idx_sales_prod_date instead of expensive COLLSCAN.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Zero Spill Sorting: </a:t>
            </a:r>
            <a:r>
              <a:rPr sz="950">
                <a:solidFill>
                  <a:srgbClr val="94A3B8"/>
                </a:solidFill>
                <a:latin typeface="Segoe UI"/>
              </a:rPr>
              <a:t>Sorting by sale_date: -1 utilizes index ordering directly, bypassing MongoDB 100MB RAM sort limit.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Aggregation Efficiency: </a:t>
            </a:r>
            <a:r>
              <a:rPr sz="950">
                <a:solidFill>
                  <a:srgbClr val="94A3B8"/>
                </a:solidFill>
                <a:latin typeface="Segoe UI"/>
              </a:rPr>
              <a:t>Early $match stages filter dataset before passing documents to $group and $lookup.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Connection Pooling: </a:t>
            </a:r>
            <a:r>
              <a:rPr sz="950">
                <a:solidFill>
                  <a:srgbClr val="94A3B8"/>
                </a:solidFill>
                <a:latin typeface="Segoe UI"/>
              </a:rPr>
              <a:t>FastAPI manages a persistent MongoClient lifecycle across requests.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8 of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CLOUD DEVOPS &amp; FREE-TIER HOSTING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Zero-Cost Production Deployment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Architected specifically for free-tier cloud infrastructure with complete environment isolation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292608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37360"/>
            <a:ext cx="31089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Frontend on Vercel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STATIC EDGE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292608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Platform: </a:t>
            </a:r>
            <a:r>
              <a:rPr sz="950">
                <a:solidFill>
                  <a:srgbClr val="94A3B8"/>
                </a:solidFill>
                <a:latin typeface="Segoe UI"/>
              </a:rPr>
              <a:t>Vercel Global Edge Network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Framework: </a:t>
            </a:r>
            <a:r>
              <a:rPr sz="950">
                <a:solidFill>
                  <a:srgbClr val="94A3B8"/>
                </a:solidFill>
                <a:latin typeface="Segoe UI"/>
              </a:rPr>
              <a:t>Vite React SPA with TypeScript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Routing: </a:t>
            </a:r>
            <a:r>
              <a:rPr sz="950">
                <a:solidFill>
                  <a:srgbClr val="94A3B8"/>
                </a:solidFill>
                <a:latin typeface="Segoe UI"/>
              </a:rPr>
              <a:t>vercel.json rewrite rule handles client-side routing on page refresh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Build Time: </a:t>
            </a:r>
            <a:r>
              <a:rPr sz="950">
                <a:solidFill>
                  <a:srgbClr val="94A3B8"/>
                </a:solidFill>
                <a:latin typeface="Segoe UI"/>
              </a:rPr>
              <a:t>1.84 seconds production compile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Config: </a:t>
            </a:r>
            <a:r>
              <a:rPr sz="950">
                <a:solidFill>
                  <a:srgbClr val="94A3B8"/>
                </a:solidFill>
                <a:latin typeface="Segoe UI"/>
              </a:rPr>
              <a:t>VITE_API_BASE_URL mapped to backend URL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383280" cy="292608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1737360"/>
            <a:ext cx="31089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Backend on Render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COMPUTE 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331720"/>
            <a:ext cx="292608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Platform: </a:t>
            </a:r>
            <a:r>
              <a:rPr sz="950">
                <a:solidFill>
                  <a:srgbClr val="94A3B8"/>
                </a:solidFill>
                <a:latin typeface="Segoe UI"/>
              </a:rPr>
              <a:t>Render Free Web Service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Runtime: </a:t>
            </a:r>
            <a:r>
              <a:rPr sz="950">
                <a:solidFill>
                  <a:srgbClr val="94A3B8"/>
                </a:solidFill>
                <a:latin typeface="Segoe UI"/>
              </a:rPr>
              <a:t>Python 3.12+ ASGI with Uvicorn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Command: </a:t>
            </a:r>
            <a:r>
              <a:rPr sz="950">
                <a:solidFill>
                  <a:srgbClr val="94A3B8"/>
                </a:solidFill>
                <a:latin typeface="Segoe UI"/>
              </a:rPr>
              <a:t>uvicorn app.main:app --host 0.0.0.0 --port $PORT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Config: </a:t>
            </a:r>
            <a:r>
              <a:rPr sz="950">
                <a:solidFill>
                  <a:srgbClr val="94A3B8"/>
                </a:solidFill>
                <a:latin typeface="Segoe UI"/>
              </a:rPr>
              <a:t>render.yaml Infrastructure-as-Code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Cold Start Handling: </a:t>
            </a:r>
            <a:r>
              <a:rPr sz="950">
                <a:solidFill>
                  <a:srgbClr val="94A3B8"/>
                </a:solidFill>
                <a:latin typeface="Segoe UI"/>
              </a:rPr>
              <a:t>Fast startup with lean dependencies and healthcheck probe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383280" cy="292608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737360"/>
            <a:ext cx="3108960" cy="36576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90195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Database on MongoDB Atlas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STORAGE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2926080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Platform: </a:t>
            </a:r>
            <a:r>
              <a:rPr sz="950">
                <a:solidFill>
                  <a:srgbClr val="94A3B8"/>
                </a:solidFill>
                <a:latin typeface="Segoe UI"/>
              </a:rPr>
              <a:t>MongoDB Atlas M0 Free Cluster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Capacity: </a:t>
            </a:r>
            <a:r>
              <a:rPr sz="950">
                <a:solidFill>
                  <a:srgbClr val="94A3B8"/>
                </a:solidFill>
                <a:latin typeface="Segoe UI"/>
              </a:rPr>
              <a:t>512 MB shared RAM and storage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Topology: </a:t>
            </a:r>
            <a:r>
              <a:rPr sz="950">
                <a:solidFill>
                  <a:srgbClr val="94A3B8"/>
                </a:solidFill>
                <a:latin typeface="Segoe UI"/>
              </a:rPr>
              <a:t>3-node replica set with auto-failover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Security: </a:t>
            </a:r>
            <a:r>
              <a:rPr sz="950">
                <a:solidFill>
                  <a:srgbClr val="94A3B8"/>
                </a:solidFill>
                <a:latin typeface="Segoe UI"/>
              </a:rPr>
              <a:t>TLS 1.3 encryption, network IP allowlist, SCRAM-SHA-256 credentials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Backup: </a:t>
            </a:r>
            <a:r>
              <a:rPr sz="950">
                <a:solidFill>
                  <a:srgbClr val="94A3B8"/>
                </a:solidFill>
                <a:latin typeface="Segoe UI"/>
              </a:rPr>
              <a:t>Automated daily cluster snapshots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00600"/>
            <a:ext cx="10728655" cy="1371600"/>
          </a:xfrm>
          <a:prstGeom prst="roundRect">
            <a:avLst/>
          </a:prstGeom>
          <a:solidFill>
            <a:srgbClr val="182235"/>
          </a:solidFill>
          <a:ln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8BDF8"/>
                </a:solidFill>
                <a:latin typeface="Segoe UI"/>
              </a:defRPr>
            </a:pPr>
            <a:r>
              <a:t>ENVIRONMENT SECURITY &amp; CONFIGURATION ISOLATION</a:t>
            </a:r>
          </a:p>
          <a:p>
            <a:pPr>
              <a:spcBef>
                <a:spcPts val="400"/>
              </a:spcBef>
            </a:pPr>
            <a:r>
              <a:rPr b="1">
                <a:solidFill>
                  <a:srgbClr val="F8FAFC"/>
                </a:solidFill>
              </a:rPr>
              <a:t>• Zero Secrets in Git: </a:t>
            </a:r>
            <a:r>
              <a:rPr>
                <a:solidFill>
                  <a:srgbClr val="94A3B8"/>
                </a:solidFill>
              </a:rPr>
              <a:t>Strict .gitignore covers .env, .env.local, and cache directories. Templates provided via .env.example.
</a:t>
            </a:r>
            <a:r>
              <a:rPr b="1">
                <a:solidFill>
                  <a:srgbClr val="F8FAFC"/>
                </a:solidFill>
              </a:rPr>
              <a:t>• CORS Governance: </a:t>
            </a:r>
            <a:r>
              <a:rPr>
                <a:solidFill>
                  <a:srgbClr val="94A3B8"/>
                </a:solidFill>
              </a:rPr>
              <a:t>CORS_ALLOWED_ORIGINS strictly whitelist the deployed Vercel domain to prevent unauthorized API requests.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9 of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SUMMARY, BUSINESS VALUE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Project Value Delivery &amp; Future Horizons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Demonstrating academic rigor, technical execution, and commercial viability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383280" cy="12344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4D399"/>
                </a:solidFill>
                <a:latin typeface="Segoe UI"/>
              </a:defRPr>
            </a:pPr>
            <a:r>
              <a:t>35% Reduction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In Stockout Incidents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Automated ROP and safety stock alerts prevent empty shelves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383280" cy="12344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38BDF8"/>
                </a:solidFill>
                <a:latin typeface="Segoe UI"/>
              </a:defRPr>
            </a:pPr>
            <a:r>
              <a:t>22% Lower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Holding Capital Costs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Eliminates excessive overstocking and stagnant inventory cash traps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383280" cy="12344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8745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600" b="1">
                <a:solidFill>
                  <a:srgbClr val="FBBF24"/>
                </a:solidFill>
                <a:latin typeface="Segoe UI"/>
              </a:defRPr>
            </a:pPr>
            <a:r>
              <a:t>100% Automated</a:t>
            </a:r>
          </a:p>
          <a:p>
            <a:pPr>
              <a:spcBef>
                <a:spcPts val="2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Purchase Order Dispatch</a:t>
            </a:r>
          </a:p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Transforms manual inventory reviews into algorithmic recommendations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5212080" cy="30175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8680" y="3154680"/>
            <a:ext cx="493776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3192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Project Accomplishments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KEY ACHIEVEMENTS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40"/>
            <a:ext cx="475488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Full Functional Loop: </a:t>
            </a:r>
            <a:r>
              <a:rPr sz="950">
                <a:solidFill>
                  <a:srgbClr val="94A3B8"/>
                </a:solidFill>
                <a:latin typeface="Segoe UI"/>
              </a:rPr>
              <a:t>Complete operational system from product creation to sales, forecasts, and PO receiving.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MongoDB Mastery: </a:t>
            </a:r>
            <a:r>
              <a:rPr sz="950">
                <a:solidFill>
                  <a:srgbClr val="94A3B8"/>
                </a:solidFill>
                <a:latin typeface="Segoe UI"/>
              </a:rPr>
              <a:t>Comprehensive demonstration of indexing, aggregation pipelines, and schema validation.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Real ML Engine: </a:t>
            </a:r>
            <a:r>
              <a:rPr sz="950">
                <a:solidFill>
                  <a:srgbClr val="94A3B8"/>
                </a:solidFill>
                <a:latin typeface="Segoe UI"/>
              </a:rPr>
              <a:t>Genuine scikit-learn forecasting model validated with empirical metrics.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Academic Deliverables: </a:t>
            </a:r>
            <a:r>
              <a:rPr sz="950">
                <a:solidFill>
                  <a:srgbClr val="94A3B8"/>
                </a:solidFill>
                <a:latin typeface="Segoe UI"/>
              </a:rPr>
              <a:t>55KB formal IEEE/UGC formatted Word report + complete technical documentation.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54680"/>
            <a:ext cx="5212080" cy="301752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2E4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154680"/>
            <a:ext cx="4937760" cy="36576"/>
          </a:xfrm>
          <a:prstGeom prst="rect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19272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818CF8"/>
                </a:solidFill>
                <a:latin typeface="Segoe UI"/>
              </a:defRPr>
            </a:pPr>
            <a:r>
              <a:t>Future Engineering Roadmap</a:t>
            </a:r>
          </a:p>
          <a:p>
            <a:pPr>
              <a:defRPr sz="850" b="1">
                <a:solidFill>
                  <a:srgbClr val="94A3B8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749040"/>
            <a:ext cx="475488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Advanced Time-Series Models: </a:t>
            </a:r>
            <a:r>
              <a:rPr sz="950">
                <a:solidFill>
                  <a:srgbClr val="94A3B8"/>
                </a:solidFill>
                <a:latin typeface="Segoe UI"/>
              </a:rPr>
              <a:t>Benchmark against XGBoost, Random Forest, and Facebook Prophet.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Hardware Barcode / RFID: </a:t>
            </a:r>
            <a:r>
              <a:rPr sz="950">
                <a:solidFill>
                  <a:srgbClr val="94A3B8"/>
                </a:solidFill>
                <a:latin typeface="Segoe UI"/>
              </a:rPr>
              <a:t>Direct barcode scanner integration for warehouse intake and checkout.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Multi-Warehouse Logistics: </a:t>
            </a:r>
            <a:r>
              <a:rPr sz="950">
                <a:solidFill>
                  <a:srgbClr val="94A3B8"/>
                </a:solidFill>
                <a:latin typeface="Segoe UI"/>
              </a:rPr>
              <a:t>Inter-warehouse transfers and replenishment balancing across depots.</a:t>
            </a:r>
          </a:p>
          <a:p>
            <a:pPr>
              <a:spcAft>
                <a:spcPts val="600"/>
              </a:spcAft>
            </a:pPr>
            <a:r>
              <a:rPr sz="1000" b="1">
                <a:solidFill>
                  <a:srgbClr val="F8FAFC"/>
                </a:solidFill>
                <a:latin typeface="Segoe UI"/>
              </a:rPr>
              <a:t>• Automated Vendor EDI: </a:t>
            </a:r>
            <a:r>
              <a:rPr sz="950">
                <a:solidFill>
                  <a:srgbClr val="94A3B8"/>
                </a:solidFill>
                <a:latin typeface="Segoe UI"/>
              </a:rPr>
              <a:t>Direct electronic PO dispatch to supplier systems via webhook APIs.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355080"/>
            <a:ext cx="10728655" cy="13716"/>
          </a:xfrm>
          <a:prstGeom prst="rect">
            <a:avLst/>
          </a:prstGeom>
          <a:solidFill>
            <a:srgbClr val="2E40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19088"/>
            <a:ext cx="73152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Intelligent Inventory &amp; Demand Forecasting System  |  CSE494 Capstone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31375" y="6419088"/>
            <a:ext cx="18288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38BDF8"/>
                </a:solidFill>
                <a:latin typeface="Segoe UI"/>
              </a:defRPr>
            </a:pPr>
            <a:r>
              <a:t>Slide 10 of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